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2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SAR M</c:v>
                </c:pt>
              </c:strCache>
            </c:strRef>
          </c:tx>
          <c:spPr>
            <a:solidFill>
              <a:srgbClr val="b8860b"/>
            </a:solidFill>
            <a:ln w="0">
              <a:noFill/>
            </a:ln>
          </c:spPr>
          <c:invertIfNegative val="0"/>
          <c:dPt>
            <c:idx val="0"/>
            <c:invertIfNegative val="0"/>
            <c:spPr>
              <a:solidFill>
                <a:srgbClr val="b8860b"/>
              </a:solidFill>
              <a:ln w="0">
                <a:noFill/>
              </a:ln>
            </c:spPr>
          </c:dPt>
          <c:dPt>
            <c:idx val="1"/>
            <c:invertIfNegative val="0"/>
            <c:spPr>
              <a:solidFill>
                <a:srgbClr val="b8860b"/>
              </a:solidFill>
              <a:ln w="0">
                <a:noFill/>
              </a:ln>
            </c:spPr>
          </c:dPt>
          <c:dPt>
            <c:idx val="2"/>
            <c:invertIfNegative val="0"/>
            <c:spPr>
              <a:solidFill>
                <a:srgbClr val="b8860b"/>
              </a:solidFill>
              <a:ln w="0">
                <a:noFill/>
              </a:ln>
            </c:spPr>
          </c:dPt>
          <c:dPt>
            <c:idx val="3"/>
            <c:invertIfNegative val="0"/>
            <c:spPr>
              <a:solidFill>
                <a:srgbClr val="1f2a44"/>
              </a:solidFill>
              <a:ln w="0">
                <a:noFill/>
              </a:ln>
            </c:spPr>
          </c:dPt>
          <c:dPt>
            <c:idx val="4"/>
            <c:invertIfNegative val="0"/>
            <c:spPr>
              <a:solidFill>
                <a:srgbClr val="1f2a44"/>
              </a:solidFill>
              <a:ln w="0">
                <a:noFill/>
              </a:ln>
            </c:spPr>
          </c:dPt>
          <c:dPt>
            <c:idx val="5"/>
            <c:invertIfNegative val="0"/>
            <c:spPr>
              <a:solidFill>
                <a:srgbClr val="1f2a44"/>
              </a:solidFill>
              <a:ln w="0">
                <a:noFill/>
              </a:ln>
            </c:spPr>
          </c:dPt>
          <c:dPt>
            <c:idx val="6"/>
            <c:invertIfNegative val="0"/>
            <c:spPr>
              <a:solidFill>
                <a:srgbClr val="1f2a44"/>
              </a:solidFill>
              <a:ln w="0">
                <a:noFill/>
              </a:ln>
            </c:spPr>
          </c:dPt>
          <c:dPt>
            <c:idx val="7"/>
            <c:invertIfNegative val="0"/>
            <c:spPr>
              <a:solidFill>
                <a:srgbClr val="1f2a44"/>
              </a:solidFill>
              <a:ln w="0">
                <a:noFill/>
              </a:ln>
            </c:spPr>
          </c:dPt>
          <c:dPt>
            <c:idx val="8"/>
            <c:invertIfNegative val="0"/>
            <c:spPr>
              <a:solidFill>
                <a:srgbClr val="1f2a44"/>
              </a:solidFill>
              <a:ln w="0">
                <a:noFill/>
              </a:ln>
            </c:spPr>
          </c:dPt>
          <c:dPt>
            <c:idx val="9"/>
            <c:invertIfNegative val="0"/>
            <c:spPr>
              <a:solidFill>
                <a:srgbClr val="1f2a44"/>
              </a:solidFill>
              <a:ln w="0">
                <a:noFill/>
              </a:ln>
            </c:spPr>
          </c:dPt>
          <c:dPt>
            <c:idx val="10"/>
            <c:invertIfNegative val="0"/>
            <c:spPr>
              <a:solidFill>
                <a:srgbClr val="1f2a44"/>
              </a:solidFill>
              <a:ln w="0">
                <a:noFill/>
              </a:ln>
            </c:spPr>
          </c:dPt>
          <c:dPt>
            <c:idx val="11"/>
            <c:invertIfNegative val="0"/>
            <c:spPr>
              <a:solidFill>
                <a:srgbClr val="1f2a44"/>
              </a:solidFill>
              <a:ln w="0">
                <a:noFill/>
              </a:ln>
            </c:spPr>
          </c:dPt>
          <c:dPt>
            <c:idx val="12"/>
            <c:invertIfNegative val="0"/>
            <c:spPr>
              <a:solidFill>
                <a:srgbClr val="1f2a44"/>
              </a:solidFill>
              <a:ln w="0">
                <a:noFill/>
              </a:ln>
            </c:spPr>
          </c:dPt>
          <c:dLbls>
            <c:numFmt formatCode="#,##0.0" sourceLinked="0"/>
            <c:dLbl>
              <c:idx val="0"/>
              <c:numFmt formatCode="#,##0.0" sourceLinked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222222"/>
                      </a:solidFill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1"/>
              <c:numFmt formatCode="#,##0.0" sourceLinked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222222"/>
                      </a:solidFill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2"/>
              <c:numFmt formatCode="#,##0.0" sourceLinked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222222"/>
                      </a:solidFill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3"/>
              <c:numFmt formatCode="#,##0.0" sourceLinked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222222"/>
                      </a:solidFill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4"/>
              <c:numFmt formatCode="#,##0.0" sourceLinked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222222"/>
                      </a:solidFill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5"/>
              <c:numFmt formatCode="#,##0.0" sourceLinked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222222"/>
                      </a:solidFill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6"/>
              <c:numFmt formatCode="#,##0.0" sourceLinked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222222"/>
                      </a:solidFill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7"/>
              <c:numFmt formatCode="#,##0.0" sourceLinked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222222"/>
                      </a:solidFill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8"/>
              <c:numFmt formatCode="#,##0.0" sourceLinked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222222"/>
                      </a:solidFill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9"/>
              <c:numFmt formatCode="#,##0.0" sourceLinked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222222"/>
                      </a:solidFill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10"/>
              <c:numFmt formatCode="#,##0.0" sourceLinked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222222"/>
                      </a:solidFill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11"/>
              <c:numFmt formatCode="#,##0.0" sourceLinked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222222"/>
                      </a:solidFill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12"/>
              <c:numFmt formatCode="#,##0.0" sourceLinked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222222"/>
                      </a:solidFill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0" sz="1000" spc="-1" strike="noStrike">
                    <a:solidFill>
                      <a:srgbClr val="222222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13"/>
                <c:pt idx="0">
                  <c:v>B16</c:v>
                </c:pt>
                <c:pt idx="1">
                  <c:v>B02</c:v>
                </c:pt>
                <c:pt idx="2">
                  <c:v>B01</c:v>
                </c:pt>
                <c:pt idx="3">
                  <c:v>B07</c:v>
                </c:pt>
                <c:pt idx="4">
                  <c:v>B19</c:v>
                </c:pt>
                <c:pt idx="5">
                  <c:v>B08</c:v>
                </c:pt>
                <c:pt idx="6">
                  <c:v>B13</c:v>
                </c:pt>
                <c:pt idx="7">
                  <c:v>B05</c:v>
                </c:pt>
                <c:pt idx="8">
                  <c:v>B12</c:v>
                </c:pt>
                <c:pt idx="9">
                  <c:v>B09</c:v>
                </c:pt>
                <c:pt idx="10">
                  <c:v>B10</c:v>
                </c:pt>
                <c:pt idx="11">
                  <c:v>B03</c:v>
                </c:pt>
                <c:pt idx="12">
                  <c:v>B18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13"/>
                <c:pt idx="0">
                  <c:v>36.94</c:v>
                </c:pt>
                <c:pt idx="1">
                  <c:v>35.66</c:v>
                </c:pt>
                <c:pt idx="2">
                  <c:v>33.47</c:v>
                </c:pt>
                <c:pt idx="3">
                  <c:v>27.93</c:v>
                </c:pt>
                <c:pt idx="4">
                  <c:v>27.86</c:v>
                </c:pt>
                <c:pt idx="5">
                  <c:v>26.62</c:v>
                </c:pt>
                <c:pt idx="6">
                  <c:v>26.18</c:v>
                </c:pt>
                <c:pt idx="7">
                  <c:v>23.76</c:v>
                </c:pt>
                <c:pt idx="8">
                  <c:v>23.22</c:v>
                </c:pt>
                <c:pt idx="9">
                  <c:v>21.52</c:v>
                </c:pt>
                <c:pt idx="10">
                  <c:v>20.48</c:v>
                </c:pt>
                <c:pt idx="11">
                  <c:v>19.73</c:v>
                </c:pt>
                <c:pt idx="12">
                  <c:v>14.74</c:v>
                </c:pt>
              </c:numCache>
            </c:numRef>
          </c:val>
        </c:ser>
        <c:gapWidth val="50"/>
        <c:overlap val="0"/>
        <c:axId val="30700877"/>
        <c:axId val="73556458"/>
      </c:barChart>
      <c:catAx>
        <c:axId val="30700877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000" spc="-1" strike="noStrike">
                <a:solidFill>
                  <a:srgbClr val="222222"/>
                </a:solidFill>
                <a:latin typeface="Calibri"/>
              </a:defRPr>
            </a:pPr>
          </a:p>
        </c:txPr>
        <c:crossAx val="73556458"/>
        <c:crosses val="autoZero"/>
        <c:auto val="1"/>
        <c:lblAlgn val="ctr"/>
        <c:lblOffset val="100"/>
        <c:noMultiLvlLbl val="0"/>
      </c:catAx>
      <c:valAx>
        <c:axId val="73556458"/>
        <c:scaling>
          <c:orientation val="minMax"/>
        </c:scaling>
        <c:delete val="0"/>
        <c:axPos val="l"/>
        <c:majorGridlines>
          <c:spPr>
            <a:ln w="6480">
              <a:solidFill>
                <a:srgbClr val="dddddd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000" spc="-1" strike="noStrike">
                <a:solidFill>
                  <a:srgbClr val="5a6275"/>
                </a:solidFill>
                <a:latin typeface="Calibri"/>
              </a:defRPr>
            </a:pPr>
          </a:p>
        </c:txPr>
        <c:crossAx val="30700877"/>
        <c:crosses val="autoZero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noFill/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1f2a44"/>
            </a:solidFill>
            <a:ln w="0">
              <a:noFill/>
            </a:ln>
          </c:spPr>
          <c:invertIfNegative val="0"/>
          <c:dPt>
            <c:idx val="0"/>
            <c:invertIfNegative val="0"/>
            <c:spPr>
              <a:solidFill>
                <a:srgbClr val="1f2a44"/>
              </a:solidFill>
              <a:ln w="0">
                <a:noFill/>
              </a:ln>
            </c:spPr>
          </c:dPt>
          <c:dPt>
            <c:idx val="1"/>
            <c:invertIfNegative val="0"/>
            <c:spPr>
              <a:solidFill>
                <a:srgbClr val="1f2a44"/>
              </a:solidFill>
              <a:ln w="0">
                <a:noFill/>
              </a:ln>
            </c:spPr>
          </c:dPt>
          <c:dPt>
            <c:idx val="2"/>
            <c:invertIfNegative val="0"/>
            <c:spPr>
              <a:solidFill>
                <a:srgbClr val="1f2a44"/>
              </a:solidFill>
              <a:ln w="0">
                <a:noFill/>
              </a:ln>
            </c:spPr>
          </c:dPt>
          <c:dPt>
            <c:idx val="3"/>
            <c:invertIfNegative val="0"/>
            <c:spPr>
              <a:solidFill>
                <a:srgbClr val="b8860b"/>
              </a:solidFill>
              <a:ln w="0">
                <a:noFill/>
              </a:ln>
            </c:spPr>
          </c:dPt>
          <c:dLbls>
            <c:numFmt formatCode="#,##0" sourceLinked="0"/>
            <c:dLbl>
              <c:idx val="0"/>
              <c:numFmt formatCode="#,##0" sourceLinked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222222"/>
                      </a:solidFill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1"/>
              <c:numFmt formatCode="#,##0" sourceLinked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222222"/>
                      </a:solidFill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2"/>
              <c:numFmt formatCode="#,##0" sourceLinked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222222"/>
                      </a:solidFill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3"/>
              <c:numFmt formatCode="#,##0" sourceLinked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222222"/>
                      </a:solidFill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0" sz="1000" spc="-1" strike="noStrike">
                    <a:solidFill>
                      <a:srgbClr val="222222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4"/>
                <c:pt idx="0">
                  <c:v>One-time</c:v>
                </c:pt>
                <c:pt idx="1">
                  <c:v>Occasional (2-3)</c:v>
                </c:pt>
                <c:pt idx="2">
                  <c:v>Regular (4-6)</c:v>
                </c:pt>
                <c:pt idx="3">
                  <c:v>VIP (7+)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38116</c:v>
                </c:pt>
                <c:pt idx="1">
                  <c:v>6368</c:v>
                </c:pt>
                <c:pt idx="2">
                  <c:v>653</c:v>
                </c:pt>
                <c:pt idx="3">
                  <c:v>226</c:v>
                </c:pt>
              </c:numCache>
            </c:numRef>
          </c:val>
        </c:ser>
        <c:gapWidth val="50"/>
        <c:overlap val="0"/>
        <c:axId val="26643069"/>
        <c:axId val="88924057"/>
      </c:barChart>
      <c:catAx>
        <c:axId val="26643069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000" spc="-1" strike="noStrike">
                <a:solidFill>
                  <a:srgbClr val="222222"/>
                </a:solidFill>
                <a:latin typeface="Calibri"/>
              </a:defRPr>
            </a:pPr>
          </a:p>
        </c:txPr>
        <c:crossAx val="88924057"/>
        <c:crosses val="autoZero"/>
        <c:auto val="1"/>
        <c:lblAlgn val="ctr"/>
        <c:lblOffset val="100"/>
        <c:noMultiLvlLbl val="0"/>
      </c:catAx>
      <c:valAx>
        <c:axId val="88924057"/>
        <c:scaling>
          <c:orientation val="minMax"/>
        </c:scaling>
        <c:delete val="0"/>
        <c:axPos val="l"/>
        <c:majorGridlines>
          <c:spPr>
            <a:ln w="6480">
              <a:solidFill>
                <a:srgbClr val="dddddd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000" spc="-1" strike="noStrike">
                <a:solidFill>
                  <a:srgbClr val="5a6275"/>
                </a:solidFill>
                <a:latin typeface="Calibri"/>
              </a:defRPr>
            </a:pPr>
          </a:p>
        </c:txPr>
        <c:crossAx val="26643069"/>
        <c:crosses val="autoZero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noFill/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% of invoices</c:v>
                </c:pt>
              </c:strCache>
            </c:strRef>
          </c:tx>
          <c:spPr>
            <a:solidFill>
              <a:srgbClr val="b8860b"/>
            </a:solidFill>
            <a:ln w="0">
              <a:noFill/>
            </a:ln>
          </c:spPr>
          <c:invertIfNegative val="0"/>
          <c:dPt>
            <c:idx val="0"/>
            <c:invertIfNegative val="0"/>
            <c:spPr>
              <a:solidFill>
                <a:srgbClr val="b8860b"/>
              </a:solidFill>
              <a:ln w="0">
                <a:noFill/>
              </a:ln>
            </c:spPr>
          </c:dPt>
          <c:dPt>
            <c:idx val="1"/>
            <c:invertIfNegative val="0"/>
            <c:spPr>
              <a:solidFill>
                <a:srgbClr val="1f2a44"/>
              </a:solidFill>
              <a:ln w="0">
                <a:noFill/>
              </a:ln>
            </c:spPr>
          </c:dPt>
          <c:dPt>
            <c:idx val="2"/>
            <c:invertIfNegative val="0"/>
            <c:spPr>
              <a:solidFill>
                <a:srgbClr val="1f2a44"/>
              </a:solidFill>
              <a:ln w="0">
                <a:noFill/>
              </a:ln>
            </c:spPr>
          </c:dPt>
          <c:dPt>
            <c:idx val="3"/>
            <c:invertIfNegative val="0"/>
            <c:spPr>
              <a:solidFill>
                <a:srgbClr val="1f2a44"/>
              </a:solidFill>
              <a:ln w="0">
                <a:noFill/>
              </a:ln>
            </c:spPr>
          </c:dPt>
          <c:dPt>
            <c:idx val="4"/>
            <c:invertIfNegative val="0"/>
            <c:spPr>
              <a:solidFill>
                <a:srgbClr val="1f2a44"/>
              </a:solidFill>
              <a:ln w="0">
                <a:noFill/>
              </a:ln>
            </c:spPr>
          </c:dPt>
          <c:dPt>
            <c:idx val="5"/>
            <c:invertIfNegative val="0"/>
            <c:spPr>
              <a:solidFill>
                <a:srgbClr val="1f2a44"/>
              </a:solidFill>
              <a:ln w="0">
                <a:noFill/>
              </a:ln>
            </c:spPr>
          </c:dPt>
          <c:dPt>
            <c:idx val="6"/>
            <c:invertIfNegative val="0"/>
            <c:spPr>
              <a:solidFill>
                <a:srgbClr val="1f2a44"/>
              </a:solidFill>
              <a:ln w="0">
                <a:noFill/>
              </a:ln>
            </c:spPr>
          </c:dPt>
          <c:dPt>
            <c:idx val="7"/>
            <c:invertIfNegative val="0"/>
            <c:spPr>
              <a:solidFill>
                <a:srgbClr val="1f2a44"/>
              </a:solidFill>
              <a:ln w="0">
                <a:noFill/>
              </a:ln>
            </c:spPr>
          </c:dPt>
          <c:dPt>
            <c:idx val="8"/>
            <c:invertIfNegative val="0"/>
            <c:spPr>
              <a:solidFill>
                <a:srgbClr val="1f2a44"/>
              </a:solidFill>
              <a:ln w="0">
                <a:noFill/>
              </a:ln>
            </c:spPr>
          </c:dPt>
          <c:dPt>
            <c:idx val="9"/>
            <c:invertIfNegative val="0"/>
            <c:spPr>
              <a:solidFill>
                <a:srgbClr val="1f2a44"/>
              </a:solidFill>
              <a:ln w="0">
                <a:noFill/>
              </a:ln>
            </c:spPr>
          </c:dPt>
          <c:dPt>
            <c:idx val="10"/>
            <c:invertIfNegative val="0"/>
            <c:spPr>
              <a:solidFill>
                <a:srgbClr val="1f2a44"/>
              </a:solidFill>
              <a:ln w="0">
                <a:noFill/>
              </a:ln>
            </c:spPr>
          </c:dPt>
          <c:dPt>
            <c:idx val="11"/>
            <c:invertIfNegative val="0"/>
            <c:spPr>
              <a:solidFill>
                <a:srgbClr val="1f2a44"/>
              </a:solidFill>
              <a:ln w="0">
                <a:noFill/>
              </a:ln>
            </c:spPr>
          </c:dPt>
          <c:dPt>
            <c:idx val="12"/>
            <c:invertIfNegative val="0"/>
            <c:spPr>
              <a:solidFill>
                <a:srgbClr val="1f2a44"/>
              </a:solidFill>
              <a:ln w="0">
                <a:noFill/>
              </a:ln>
            </c:spPr>
          </c:dPt>
          <c:dPt>
            <c:idx val="13"/>
            <c:invertIfNegative val="0"/>
            <c:spPr>
              <a:solidFill>
                <a:srgbClr val="1f2a44"/>
              </a:solidFill>
              <a:ln w="0">
                <a:noFill/>
              </a:ln>
            </c:spPr>
          </c:dPt>
          <c:dPt>
            <c:idx val="14"/>
            <c:invertIfNegative val="0"/>
            <c:spPr>
              <a:solidFill>
                <a:srgbClr val="1f2a44"/>
              </a:solidFill>
              <a:ln w="0">
                <a:noFill/>
              </a:ln>
            </c:spPr>
          </c:dPt>
          <c:dPt>
            <c:idx val="15"/>
            <c:invertIfNegative val="0"/>
            <c:spPr>
              <a:solidFill>
                <a:srgbClr val="1f2a44"/>
              </a:solidFill>
              <a:ln w="0">
                <a:noFill/>
              </a:ln>
            </c:spPr>
          </c:dPt>
          <c:dPt>
            <c:idx val="16"/>
            <c:invertIfNegative val="0"/>
            <c:spPr>
              <a:solidFill>
                <a:srgbClr val="1f2a44"/>
              </a:solidFill>
              <a:ln w="0">
                <a:noFill/>
              </a:ln>
            </c:spPr>
          </c:dPt>
          <c:dLbls>
            <c:numFmt formatCode="0.0" sourceLinked="0"/>
            <c:dLbl>
              <c:idx val="0"/>
              <c:numFmt formatCode="0.0" sourceLinked="0"/>
              <c:txPr>
                <a:bodyPr wrap="square"/>
                <a:lstStyle/>
                <a:p>
                  <a:pPr>
                    <a:defRPr b="0" sz="900" spc="-1" strike="noStrike">
                      <a:solidFill>
                        <a:srgbClr val="222222"/>
                      </a:solidFill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1"/>
              <c:numFmt formatCode="0.0" sourceLinked="0"/>
              <c:txPr>
                <a:bodyPr wrap="square"/>
                <a:lstStyle/>
                <a:p>
                  <a:pPr>
                    <a:defRPr b="0" sz="900" spc="-1" strike="noStrike">
                      <a:solidFill>
                        <a:srgbClr val="222222"/>
                      </a:solidFill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2"/>
              <c:numFmt formatCode="0.0" sourceLinked="0"/>
              <c:txPr>
                <a:bodyPr wrap="square"/>
                <a:lstStyle/>
                <a:p>
                  <a:pPr>
                    <a:defRPr b="0" sz="900" spc="-1" strike="noStrike">
                      <a:solidFill>
                        <a:srgbClr val="222222"/>
                      </a:solidFill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3"/>
              <c:numFmt formatCode="0.0" sourceLinked="0"/>
              <c:txPr>
                <a:bodyPr wrap="square"/>
                <a:lstStyle/>
                <a:p>
                  <a:pPr>
                    <a:defRPr b="0" sz="900" spc="-1" strike="noStrike">
                      <a:solidFill>
                        <a:srgbClr val="222222"/>
                      </a:solidFill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4"/>
              <c:numFmt formatCode="0.0" sourceLinked="0"/>
              <c:txPr>
                <a:bodyPr wrap="square"/>
                <a:lstStyle/>
                <a:p>
                  <a:pPr>
                    <a:defRPr b="0" sz="900" spc="-1" strike="noStrike">
                      <a:solidFill>
                        <a:srgbClr val="222222"/>
                      </a:solidFill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5"/>
              <c:numFmt formatCode="0.0" sourceLinked="0"/>
              <c:txPr>
                <a:bodyPr wrap="square"/>
                <a:lstStyle/>
                <a:p>
                  <a:pPr>
                    <a:defRPr b="0" sz="900" spc="-1" strike="noStrike">
                      <a:solidFill>
                        <a:srgbClr val="222222"/>
                      </a:solidFill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6"/>
              <c:numFmt formatCode="0.0" sourceLinked="0"/>
              <c:txPr>
                <a:bodyPr wrap="square"/>
                <a:lstStyle/>
                <a:p>
                  <a:pPr>
                    <a:defRPr b="0" sz="900" spc="-1" strike="noStrike">
                      <a:solidFill>
                        <a:srgbClr val="222222"/>
                      </a:solidFill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7"/>
              <c:numFmt formatCode="0.0" sourceLinked="0"/>
              <c:txPr>
                <a:bodyPr wrap="square"/>
                <a:lstStyle/>
                <a:p>
                  <a:pPr>
                    <a:defRPr b="0" sz="900" spc="-1" strike="noStrike">
                      <a:solidFill>
                        <a:srgbClr val="222222"/>
                      </a:solidFill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8"/>
              <c:numFmt formatCode="0.0" sourceLinked="0"/>
              <c:txPr>
                <a:bodyPr wrap="square"/>
                <a:lstStyle/>
                <a:p>
                  <a:pPr>
                    <a:defRPr b="0" sz="900" spc="-1" strike="noStrike">
                      <a:solidFill>
                        <a:srgbClr val="222222"/>
                      </a:solidFill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9"/>
              <c:numFmt formatCode="0.0" sourceLinked="0"/>
              <c:txPr>
                <a:bodyPr wrap="square"/>
                <a:lstStyle/>
                <a:p>
                  <a:pPr>
                    <a:defRPr b="0" sz="900" spc="-1" strike="noStrike">
                      <a:solidFill>
                        <a:srgbClr val="222222"/>
                      </a:solidFill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10"/>
              <c:numFmt formatCode="0.0" sourceLinked="0"/>
              <c:txPr>
                <a:bodyPr wrap="square"/>
                <a:lstStyle/>
                <a:p>
                  <a:pPr>
                    <a:defRPr b="0" sz="900" spc="-1" strike="noStrike">
                      <a:solidFill>
                        <a:srgbClr val="222222"/>
                      </a:solidFill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11"/>
              <c:numFmt formatCode="0.0" sourceLinked="0"/>
              <c:txPr>
                <a:bodyPr wrap="square"/>
                <a:lstStyle/>
                <a:p>
                  <a:pPr>
                    <a:defRPr b="0" sz="900" spc="-1" strike="noStrike">
                      <a:solidFill>
                        <a:srgbClr val="222222"/>
                      </a:solidFill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12"/>
              <c:numFmt formatCode="0.0" sourceLinked="0"/>
              <c:txPr>
                <a:bodyPr wrap="square"/>
                <a:lstStyle/>
                <a:p>
                  <a:pPr>
                    <a:defRPr b="0" sz="900" spc="-1" strike="noStrike">
                      <a:solidFill>
                        <a:srgbClr val="222222"/>
                      </a:solidFill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13"/>
              <c:numFmt formatCode="0.0" sourceLinked="0"/>
              <c:txPr>
                <a:bodyPr wrap="square"/>
                <a:lstStyle/>
                <a:p>
                  <a:pPr>
                    <a:defRPr b="0" sz="900" spc="-1" strike="noStrike">
                      <a:solidFill>
                        <a:srgbClr val="222222"/>
                      </a:solidFill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14"/>
              <c:numFmt formatCode="0.0" sourceLinked="0"/>
              <c:txPr>
                <a:bodyPr wrap="square"/>
                <a:lstStyle/>
                <a:p>
                  <a:pPr>
                    <a:defRPr b="0" sz="900" spc="-1" strike="noStrike">
                      <a:solidFill>
                        <a:srgbClr val="222222"/>
                      </a:solidFill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15"/>
              <c:numFmt formatCode="0.0" sourceLinked="0"/>
              <c:txPr>
                <a:bodyPr wrap="square"/>
                <a:lstStyle/>
                <a:p>
                  <a:pPr>
                    <a:defRPr b="0" sz="900" spc="-1" strike="noStrike">
                      <a:solidFill>
                        <a:srgbClr val="222222"/>
                      </a:solidFill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16"/>
              <c:numFmt formatCode="0.0" sourceLinked="0"/>
              <c:txPr>
                <a:bodyPr wrap="square"/>
                <a:lstStyle/>
                <a:p>
                  <a:pPr>
                    <a:defRPr b="0" sz="900" spc="-1" strike="noStrike">
                      <a:solidFill>
                        <a:srgbClr val="222222"/>
                      </a:solidFill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0" sz="900" spc="-1" strike="noStrike">
                    <a:solidFill>
                      <a:srgbClr val="222222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17"/>
                <c:pt idx="0">
                  <c:v>B06</c:v>
                </c:pt>
                <c:pt idx="1">
                  <c:v>B08</c:v>
                </c:pt>
                <c:pt idx="2">
                  <c:v>B09</c:v>
                </c:pt>
                <c:pt idx="3">
                  <c:v>B07</c:v>
                </c:pt>
                <c:pt idx="4">
                  <c:v>B15</c:v>
                </c:pt>
                <c:pt idx="5">
                  <c:v>B18</c:v>
                </c:pt>
                <c:pt idx="6">
                  <c:v>B17</c:v>
                </c:pt>
                <c:pt idx="7">
                  <c:v>B05</c:v>
                </c:pt>
                <c:pt idx="8">
                  <c:v>B16</c:v>
                </c:pt>
                <c:pt idx="9">
                  <c:v>B01</c:v>
                </c:pt>
                <c:pt idx="10">
                  <c:v>B12</c:v>
                </c:pt>
                <c:pt idx="11">
                  <c:v>B03</c:v>
                </c:pt>
                <c:pt idx="12">
                  <c:v>B04</c:v>
                </c:pt>
                <c:pt idx="13">
                  <c:v>B02</c:v>
                </c:pt>
                <c:pt idx="14">
                  <c:v>B19</c:v>
                </c:pt>
                <c:pt idx="15">
                  <c:v>B13</c:v>
                </c:pt>
                <c:pt idx="16">
                  <c:v>B10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17"/>
                <c:pt idx="0">
                  <c:v>3.9</c:v>
                </c:pt>
                <c:pt idx="1">
                  <c:v>2.66</c:v>
                </c:pt>
                <c:pt idx="2">
                  <c:v>2.23</c:v>
                </c:pt>
                <c:pt idx="3">
                  <c:v>2.12</c:v>
                </c:pt>
                <c:pt idx="4">
                  <c:v>1.96</c:v>
                </c:pt>
                <c:pt idx="5">
                  <c:v>1.94</c:v>
                </c:pt>
                <c:pt idx="6">
                  <c:v>1.9</c:v>
                </c:pt>
                <c:pt idx="7">
                  <c:v>1.83</c:v>
                </c:pt>
                <c:pt idx="8">
                  <c:v>1.78</c:v>
                </c:pt>
                <c:pt idx="9">
                  <c:v>1.74</c:v>
                </c:pt>
                <c:pt idx="10">
                  <c:v>1.69</c:v>
                </c:pt>
                <c:pt idx="11">
                  <c:v>1.57</c:v>
                </c:pt>
                <c:pt idx="12">
                  <c:v>1.56</c:v>
                </c:pt>
                <c:pt idx="13">
                  <c:v>1.34</c:v>
                </c:pt>
                <c:pt idx="14">
                  <c:v>1.21</c:v>
                </c:pt>
                <c:pt idx="15">
                  <c:v>1.06</c:v>
                </c:pt>
                <c:pt idx="16">
                  <c:v>0.72</c:v>
                </c:pt>
              </c:numCache>
            </c:numRef>
          </c:val>
        </c:ser>
        <c:gapWidth val="50"/>
        <c:overlap val="0"/>
        <c:axId val="38090400"/>
        <c:axId val="84473451"/>
      </c:barChart>
      <c:catAx>
        <c:axId val="38090400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000" spc="-1" strike="noStrike">
                <a:solidFill>
                  <a:srgbClr val="222222"/>
                </a:solidFill>
                <a:latin typeface="Calibri"/>
              </a:defRPr>
            </a:pPr>
          </a:p>
        </c:txPr>
        <c:crossAx val="84473451"/>
        <c:crosses val="autoZero"/>
        <c:auto val="1"/>
        <c:lblAlgn val="ctr"/>
        <c:lblOffset val="100"/>
        <c:noMultiLvlLbl val="0"/>
      </c:catAx>
      <c:valAx>
        <c:axId val="84473451"/>
        <c:scaling>
          <c:orientation val="minMax"/>
        </c:scaling>
        <c:delete val="0"/>
        <c:axPos val="l"/>
        <c:majorGridlines>
          <c:spPr>
            <a:ln w="6480">
              <a:solidFill>
                <a:srgbClr val="dddddd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000" spc="-1" strike="noStrike">
                <a:solidFill>
                  <a:srgbClr val="5a6275"/>
                </a:solidFill>
                <a:latin typeface="Calibri"/>
              </a:defRPr>
            </a:pPr>
          </a:p>
        </c:txPr>
        <c:crossAx val="38090400"/>
        <c:crosses val="autoZero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noFill/>
    <a:ln w="0">
      <a:noFill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% of collected</c:v>
                </c:pt>
              </c:strCache>
            </c:strRef>
          </c:tx>
          <c:spPr>
            <a:solidFill>
              <a:srgbClr val="1f2a44"/>
            </a:solidFill>
            <a:ln w="0">
              <a:noFill/>
            </a:ln>
          </c:spPr>
          <c:invertIfNegative val="0"/>
          <c:dPt>
            <c:idx val="0"/>
            <c:invertIfNegative val="0"/>
            <c:spPr>
              <a:solidFill>
                <a:srgbClr val="1f2a44"/>
              </a:solidFill>
              <a:ln w="0">
                <a:noFill/>
              </a:ln>
            </c:spPr>
          </c:dPt>
          <c:dPt>
            <c:idx val="1"/>
            <c:invertIfNegative val="0"/>
            <c:spPr>
              <a:solidFill>
                <a:srgbClr val="1f2a44"/>
              </a:solidFill>
              <a:ln w="0">
                <a:noFill/>
              </a:ln>
            </c:spPr>
          </c:dPt>
          <c:dPt>
            <c:idx val="2"/>
            <c:invertIfNegative val="0"/>
            <c:spPr>
              <a:solidFill>
                <a:srgbClr val="1f2a44"/>
              </a:solidFill>
              <a:ln w="0">
                <a:noFill/>
              </a:ln>
            </c:spPr>
          </c:dPt>
          <c:dPt>
            <c:idx val="3"/>
            <c:invertIfNegative val="0"/>
            <c:spPr>
              <a:solidFill>
                <a:srgbClr val="1f2a44"/>
              </a:solidFill>
              <a:ln w="0">
                <a:noFill/>
              </a:ln>
            </c:spPr>
          </c:dPt>
          <c:dPt>
            <c:idx val="4"/>
            <c:invertIfNegative val="0"/>
            <c:spPr>
              <a:solidFill>
                <a:srgbClr val="b8860b"/>
              </a:solidFill>
              <a:ln w="0">
                <a:noFill/>
              </a:ln>
            </c:spPr>
          </c:dPt>
          <c:dLbls>
            <c:numFmt formatCode="0.0" sourceLinked="0"/>
            <c:dLbl>
              <c:idx val="0"/>
              <c:numFmt formatCode="0.0" sourceLinked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222222"/>
                      </a:solidFill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1"/>
              <c:numFmt formatCode="0.0" sourceLinked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222222"/>
                      </a:solidFill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2"/>
              <c:numFmt formatCode="0.0" sourceLinked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222222"/>
                      </a:solidFill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3"/>
              <c:numFmt formatCode="0.0" sourceLinked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222222"/>
                      </a:solidFill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4"/>
              <c:numFmt formatCode="0.0" sourceLinked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222222"/>
                      </a:solidFill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0" sz="1000" spc="-1" strike="noStrike">
                    <a:solidFill>
                      <a:srgbClr val="222222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5"/>
                <c:pt idx="0">
                  <c:v>Cheque</c:v>
                </c:pt>
                <c:pt idx="1">
                  <c:v>Loyalty points</c:v>
                </c:pt>
                <c:pt idx="2">
                  <c:v>Bank transfer</c:v>
                </c:pt>
                <c:pt idx="3">
                  <c:v>Card</c:v>
                </c:pt>
                <c:pt idx="4">
                  <c:v>Cash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5"/>
                <c:pt idx="0">
                  <c:v>0.002</c:v>
                </c:pt>
                <c:pt idx="1">
                  <c:v>0.01</c:v>
                </c:pt>
                <c:pt idx="2">
                  <c:v>4.73</c:v>
                </c:pt>
                <c:pt idx="3">
                  <c:v>31.51</c:v>
                </c:pt>
                <c:pt idx="4">
                  <c:v>63.75</c:v>
                </c:pt>
              </c:numCache>
            </c:numRef>
          </c:val>
        </c:ser>
        <c:gapWidth val="50"/>
        <c:overlap val="0"/>
        <c:axId val="66301072"/>
        <c:axId val="47454854"/>
      </c:barChart>
      <c:catAx>
        <c:axId val="6630107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000" spc="-1" strike="noStrike">
                <a:solidFill>
                  <a:srgbClr val="222222"/>
                </a:solidFill>
                <a:latin typeface="Calibri"/>
              </a:defRPr>
            </a:pPr>
          </a:p>
        </c:txPr>
        <c:crossAx val="47454854"/>
        <c:crosses val="autoZero"/>
        <c:auto val="1"/>
        <c:lblAlgn val="ctr"/>
        <c:lblOffset val="100"/>
        <c:noMultiLvlLbl val="0"/>
      </c:catAx>
      <c:valAx>
        <c:axId val="47454854"/>
        <c:scaling>
          <c:orientation val="minMax"/>
        </c:scaling>
        <c:delete val="0"/>
        <c:axPos val="l"/>
        <c:majorGridlines>
          <c:spPr>
            <a:ln w="6480">
              <a:solidFill>
                <a:srgbClr val="dddddd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000" spc="-1" strike="noStrike">
                <a:solidFill>
                  <a:srgbClr val="5a6275"/>
                </a:solidFill>
                <a:latin typeface="Calibri"/>
              </a:defRPr>
            </a:pPr>
          </a:p>
        </c:txPr>
        <c:crossAx val="66301072"/>
        <c:crosses val="autoZero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noFill/>
    <a:ln w="0">
      <a:noFill/>
    </a:ln>
  </c:sp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SAR M</c:v>
                </c:pt>
              </c:strCache>
            </c:strRef>
          </c:tx>
          <c:spPr>
            <a:solidFill>
              <a:srgbClr val="b8860b"/>
            </a:solidFill>
            <a:ln w="0">
              <a:noFill/>
            </a:ln>
          </c:spPr>
          <c:invertIfNegative val="0"/>
          <c:dPt>
            <c:idx val="0"/>
            <c:invertIfNegative val="0"/>
            <c:spPr>
              <a:solidFill>
                <a:srgbClr val="b8860b"/>
              </a:solidFill>
              <a:ln w="0">
                <a:noFill/>
              </a:ln>
            </c:spPr>
          </c:dPt>
          <c:dPt>
            <c:idx val="1"/>
            <c:invertIfNegative val="0"/>
            <c:spPr>
              <a:solidFill>
                <a:srgbClr val="b8860b"/>
              </a:solidFill>
              <a:ln w="0">
                <a:noFill/>
              </a:ln>
            </c:spPr>
          </c:dPt>
          <c:dPt>
            <c:idx val="2"/>
            <c:invertIfNegative val="0"/>
            <c:spPr>
              <a:solidFill>
                <a:srgbClr val="1f2a44"/>
              </a:solidFill>
              <a:ln w="0">
                <a:noFill/>
              </a:ln>
            </c:spPr>
          </c:dPt>
          <c:dPt>
            <c:idx val="3"/>
            <c:invertIfNegative val="0"/>
            <c:spPr>
              <a:solidFill>
                <a:srgbClr val="1f2a44"/>
              </a:solidFill>
              <a:ln w="0">
                <a:noFill/>
              </a:ln>
            </c:spPr>
          </c:dPt>
          <c:dPt>
            <c:idx val="4"/>
            <c:invertIfNegative val="0"/>
            <c:spPr>
              <a:solidFill>
                <a:srgbClr val="1f2a44"/>
              </a:solidFill>
              <a:ln w="0">
                <a:noFill/>
              </a:ln>
            </c:spPr>
          </c:dPt>
          <c:dPt>
            <c:idx val="5"/>
            <c:invertIfNegative val="0"/>
            <c:spPr>
              <a:solidFill>
                <a:srgbClr val="1f2a44"/>
              </a:solidFill>
              <a:ln w="0">
                <a:noFill/>
              </a:ln>
            </c:spPr>
          </c:dPt>
          <c:dPt>
            <c:idx val="6"/>
            <c:invertIfNegative val="0"/>
            <c:spPr>
              <a:solidFill>
                <a:srgbClr val="1f2a44"/>
              </a:solidFill>
              <a:ln w="0">
                <a:noFill/>
              </a:ln>
            </c:spPr>
          </c:dPt>
          <c:dPt>
            <c:idx val="7"/>
            <c:invertIfNegative val="0"/>
            <c:spPr>
              <a:solidFill>
                <a:srgbClr val="1f2a44"/>
              </a:solidFill>
              <a:ln w="0">
                <a:noFill/>
              </a:ln>
            </c:spPr>
          </c:dPt>
          <c:dLbls>
            <c:numFmt formatCode="#,##0.0" sourceLinked="0"/>
            <c:dLbl>
              <c:idx val="0"/>
              <c:numFmt formatCode="#,##0.0" sourceLinked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222222"/>
                      </a:solidFill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1"/>
              <c:numFmt formatCode="#,##0.0" sourceLinked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222222"/>
                      </a:solidFill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2"/>
              <c:numFmt formatCode="#,##0.0" sourceLinked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222222"/>
                      </a:solidFill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3"/>
              <c:numFmt formatCode="#,##0.0" sourceLinked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222222"/>
                      </a:solidFill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4"/>
              <c:numFmt formatCode="#,##0.0" sourceLinked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222222"/>
                      </a:solidFill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5"/>
              <c:numFmt formatCode="#,##0.0" sourceLinked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222222"/>
                      </a:solidFill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6"/>
              <c:numFmt formatCode="#,##0.0" sourceLinked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222222"/>
                      </a:solidFill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7"/>
              <c:numFmt formatCode="#,##0.0" sourceLinked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222222"/>
                      </a:solidFill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0" sz="1000" spc="-1" strike="noStrike">
                    <a:solidFill>
                      <a:srgbClr val="222222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8"/>
                <c:pt idx="0">
                  <c:v>B02</c:v>
                </c:pt>
                <c:pt idx="1">
                  <c:v>B05</c:v>
                </c:pt>
                <c:pt idx="2">
                  <c:v>B07</c:v>
                </c:pt>
                <c:pt idx="3">
                  <c:v>B01</c:v>
                </c:pt>
                <c:pt idx="4">
                  <c:v>B12</c:v>
                </c:pt>
                <c:pt idx="5">
                  <c:v>B10</c:v>
                </c:pt>
                <c:pt idx="6">
                  <c:v>B16</c:v>
                </c:pt>
                <c:pt idx="7">
                  <c:v>B03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8"/>
                <c:pt idx="0">
                  <c:v>7.01</c:v>
                </c:pt>
                <c:pt idx="1">
                  <c:v>6.82</c:v>
                </c:pt>
                <c:pt idx="2">
                  <c:v>3.22</c:v>
                </c:pt>
                <c:pt idx="3">
                  <c:v>3.01</c:v>
                </c:pt>
                <c:pt idx="4">
                  <c:v>2.43</c:v>
                </c:pt>
                <c:pt idx="5">
                  <c:v>2.39</c:v>
                </c:pt>
                <c:pt idx="6">
                  <c:v>2.17</c:v>
                </c:pt>
                <c:pt idx="7">
                  <c:v>2.07</c:v>
                </c:pt>
              </c:numCache>
            </c:numRef>
          </c:val>
        </c:ser>
        <c:gapWidth val="50"/>
        <c:overlap val="0"/>
        <c:axId val="30854726"/>
        <c:axId val="4158313"/>
      </c:barChart>
      <c:catAx>
        <c:axId val="3085472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000" spc="-1" strike="noStrike">
                <a:solidFill>
                  <a:srgbClr val="222222"/>
                </a:solidFill>
                <a:latin typeface="Calibri"/>
              </a:defRPr>
            </a:pPr>
          </a:p>
        </c:txPr>
        <c:crossAx val="4158313"/>
        <c:crosses val="autoZero"/>
        <c:auto val="1"/>
        <c:lblAlgn val="ctr"/>
        <c:lblOffset val="100"/>
        <c:noMultiLvlLbl val="0"/>
      </c:catAx>
      <c:valAx>
        <c:axId val="4158313"/>
        <c:scaling>
          <c:orientation val="minMax"/>
        </c:scaling>
        <c:delete val="0"/>
        <c:axPos val="l"/>
        <c:majorGridlines>
          <c:spPr>
            <a:ln w="6480">
              <a:solidFill>
                <a:srgbClr val="dddddd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000" spc="-1" strike="noStrike">
                <a:solidFill>
                  <a:srgbClr val="5a6275"/>
                </a:solidFill>
                <a:latin typeface="Calibri"/>
              </a:defRPr>
            </a:pPr>
          </a:p>
        </c:txPr>
        <c:crossAx val="30854726"/>
        <c:crosses val="autoZero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noFill/>
    <a:ln w="0">
      <a:noFill/>
    </a:ln>
  </c:spPr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SAR M</c:v>
                </c:pt>
              </c:strCache>
            </c:strRef>
          </c:tx>
          <c:spPr>
            <a:solidFill>
              <a:srgbClr val="b8860b"/>
            </a:solidFill>
            <a:ln w="0">
              <a:noFill/>
            </a:ln>
          </c:spPr>
          <c:invertIfNegative val="0"/>
          <c:dPt>
            <c:idx val="0"/>
            <c:invertIfNegative val="0"/>
            <c:spPr>
              <a:solidFill>
                <a:srgbClr val="b8860b"/>
              </a:solidFill>
              <a:ln w="0">
                <a:noFill/>
              </a:ln>
            </c:spPr>
          </c:dPt>
          <c:dPt>
            <c:idx val="1"/>
            <c:invertIfNegative val="0"/>
            <c:spPr>
              <a:solidFill>
                <a:srgbClr val="b8860b"/>
              </a:solidFill>
              <a:ln w="0">
                <a:noFill/>
              </a:ln>
            </c:spPr>
          </c:dPt>
          <c:dPt>
            <c:idx val="2"/>
            <c:invertIfNegative val="0"/>
            <c:spPr>
              <a:solidFill>
                <a:srgbClr val="1f2a44"/>
              </a:solidFill>
              <a:ln w="0">
                <a:noFill/>
              </a:ln>
            </c:spPr>
          </c:dPt>
          <c:dPt>
            <c:idx val="3"/>
            <c:invertIfNegative val="0"/>
            <c:spPr>
              <a:solidFill>
                <a:srgbClr val="1f2a44"/>
              </a:solidFill>
              <a:ln w="0">
                <a:noFill/>
              </a:ln>
            </c:spPr>
          </c:dPt>
          <c:dPt>
            <c:idx val="4"/>
            <c:invertIfNegative val="0"/>
            <c:spPr>
              <a:solidFill>
                <a:srgbClr val="1f2a44"/>
              </a:solidFill>
              <a:ln w="0">
                <a:noFill/>
              </a:ln>
            </c:spPr>
          </c:dPt>
          <c:dPt>
            <c:idx val="5"/>
            <c:invertIfNegative val="0"/>
            <c:spPr>
              <a:solidFill>
                <a:srgbClr val="1f2a44"/>
              </a:solidFill>
              <a:ln w="0">
                <a:noFill/>
              </a:ln>
            </c:spPr>
          </c:dPt>
          <c:dPt>
            <c:idx val="6"/>
            <c:invertIfNegative val="0"/>
            <c:spPr>
              <a:solidFill>
                <a:srgbClr val="1f2a44"/>
              </a:solidFill>
              <a:ln w="0">
                <a:noFill/>
              </a:ln>
            </c:spPr>
          </c:dPt>
          <c:dPt>
            <c:idx val="7"/>
            <c:invertIfNegative val="0"/>
            <c:spPr>
              <a:solidFill>
                <a:srgbClr val="1f2a44"/>
              </a:solidFill>
              <a:ln w="0">
                <a:noFill/>
              </a:ln>
            </c:spPr>
          </c:dPt>
          <c:dPt>
            <c:idx val="8"/>
            <c:invertIfNegative val="0"/>
            <c:spPr>
              <a:solidFill>
                <a:srgbClr val="1f2a44"/>
              </a:solidFill>
              <a:ln w="0">
                <a:noFill/>
              </a:ln>
            </c:spPr>
          </c:dPt>
          <c:dPt>
            <c:idx val="9"/>
            <c:invertIfNegative val="0"/>
            <c:spPr>
              <a:solidFill>
                <a:srgbClr val="1f2a44"/>
              </a:solidFill>
              <a:ln w="0">
                <a:noFill/>
              </a:ln>
            </c:spPr>
          </c:dPt>
          <c:dLbls>
            <c:numFmt formatCode="#,##0.0" sourceLinked="0"/>
            <c:dLbl>
              <c:idx val="0"/>
              <c:numFmt formatCode="#,##0.0" sourceLinked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222222"/>
                      </a:solidFill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1"/>
              <c:numFmt formatCode="#,##0.0" sourceLinked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222222"/>
                      </a:solidFill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2"/>
              <c:numFmt formatCode="#,##0.0" sourceLinked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222222"/>
                      </a:solidFill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3"/>
              <c:numFmt formatCode="#,##0.0" sourceLinked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222222"/>
                      </a:solidFill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4"/>
              <c:numFmt formatCode="#,##0.0" sourceLinked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222222"/>
                      </a:solidFill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5"/>
              <c:numFmt formatCode="#,##0.0" sourceLinked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222222"/>
                      </a:solidFill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6"/>
              <c:numFmt formatCode="#,##0.0" sourceLinked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222222"/>
                      </a:solidFill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7"/>
              <c:numFmt formatCode="#,##0.0" sourceLinked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222222"/>
                      </a:solidFill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8"/>
              <c:numFmt formatCode="#,##0.0" sourceLinked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222222"/>
                      </a:solidFill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9"/>
              <c:numFmt formatCode="#,##0.0" sourceLinked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222222"/>
                      </a:solidFill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0" sz="1000" spc="-1" strike="noStrike">
                    <a:solidFill>
                      <a:srgbClr val="222222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10"/>
                <c:pt idx="0">
                  <c:v>SP105</c:v>
                </c:pt>
                <c:pt idx="1">
                  <c:v>SP115</c:v>
                </c:pt>
                <c:pt idx="2">
                  <c:v>SP083</c:v>
                </c:pt>
                <c:pt idx="3">
                  <c:v>SP002</c:v>
                </c:pt>
                <c:pt idx="4">
                  <c:v>SP015</c:v>
                </c:pt>
                <c:pt idx="5">
                  <c:v>SP082</c:v>
                </c:pt>
                <c:pt idx="6">
                  <c:v>SP102</c:v>
                </c:pt>
                <c:pt idx="7">
                  <c:v>SP050</c:v>
                </c:pt>
                <c:pt idx="8">
                  <c:v>SP051</c:v>
                </c:pt>
                <c:pt idx="9">
                  <c:v>SP038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10"/>
                <c:pt idx="0">
                  <c:v>23.76</c:v>
                </c:pt>
                <c:pt idx="1">
                  <c:v>14.74</c:v>
                </c:pt>
                <c:pt idx="2">
                  <c:v>12.28</c:v>
                </c:pt>
                <c:pt idx="3">
                  <c:v>10.8</c:v>
                </c:pt>
                <c:pt idx="4">
                  <c:v>9.88</c:v>
                </c:pt>
                <c:pt idx="5">
                  <c:v>9.44</c:v>
                </c:pt>
                <c:pt idx="6">
                  <c:v>8.96</c:v>
                </c:pt>
                <c:pt idx="7">
                  <c:v>8.35</c:v>
                </c:pt>
                <c:pt idx="8">
                  <c:v>8.17</c:v>
                </c:pt>
                <c:pt idx="9">
                  <c:v>7.73</c:v>
                </c:pt>
              </c:numCache>
            </c:numRef>
          </c:val>
        </c:ser>
        <c:gapWidth val="50"/>
        <c:overlap val="0"/>
        <c:axId val="76011884"/>
        <c:axId val="3937494"/>
      </c:barChart>
      <c:catAx>
        <c:axId val="760118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000" spc="-1" strike="noStrike">
                <a:solidFill>
                  <a:srgbClr val="222222"/>
                </a:solidFill>
                <a:latin typeface="Calibri"/>
              </a:defRPr>
            </a:pPr>
          </a:p>
        </c:txPr>
        <c:crossAx val="3937494"/>
        <c:crosses val="autoZero"/>
        <c:auto val="1"/>
        <c:lblAlgn val="ctr"/>
        <c:lblOffset val="100"/>
        <c:noMultiLvlLbl val="0"/>
      </c:catAx>
      <c:valAx>
        <c:axId val="3937494"/>
        <c:scaling>
          <c:orientation val="minMax"/>
        </c:scaling>
        <c:delete val="0"/>
        <c:axPos val="l"/>
        <c:majorGridlines>
          <c:spPr>
            <a:ln w="6480">
              <a:solidFill>
                <a:srgbClr val="dddddd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000" spc="-1" strike="noStrike">
                <a:solidFill>
                  <a:srgbClr val="5a6275"/>
                </a:solidFill>
                <a:latin typeface="Calibri"/>
              </a:defRPr>
            </a:pPr>
          </a:p>
        </c:txPr>
        <c:crossAx val="76011884"/>
        <c:crosses val="autoZero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noFill/>
    <a:ln w="0">
      <a:noFill/>
    </a:ln>
  </c:spPr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SAR M</c:v>
                </c:pt>
              </c:strCache>
            </c:strRef>
          </c:tx>
          <c:spPr>
            <a:solidFill>
              <a:srgbClr val="1f2a44"/>
            </a:solidFill>
            <a:ln w="38160">
              <a:solidFill>
                <a:srgbClr val="1f2a44"/>
              </a:solidFill>
              <a:round/>
            </a:ln>
          </c:spPr>
          <c:marker>
            <c:symbol val="circle"/>
            <c:size val="7"/>
            <c:spPr>
              <a:solidFill>
                <a:srgbClr val="1f2a44"/>
              </a:solidFill>
            </c:spPr>
          </c:marker>
          <c:dLbls>
            <c:txPr>
              <a:bodyPr wrap="square"/>
              <a:lstStyle/>
              <a:p>
                <a:pPr>
                  <a:defRPr b="0" sz="1000" spc="-1" strike="noStrike">
                    <a:solidFill>
                      <a:srgbClr val="222222"/>
                    </a:solidFill>
                    <a:latin typeface="Calibri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14"/>
                <c:pt idx="0">
                  <c:v>Jan 25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  <c:pt idx="12">
                  <c:v>Jan 26</c:v>
                </c:pt>
                <c:pt idx="13">
                  <c:v>Feb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14"/>
                <c:pt idx="0">
                  <c:v>14.81</c:v>
                </c:pt>
                <c:pt idx="1">
                  <c:v>24.8</c:v>
                </c:pt>
                <c:pt idx="2">
                  <c:v>27.87</c:v>
                </c:pt>
                <c:pt idx="3">
                  <c:v>28.82</c:v>
                </c:pt>
                <c:pt idx="4">
                  <c:v>31.69</c:v>
                </c:pt>
                <c:pt idx="5">
                  <c:v>20.53</c:v>
                </c:pt>
                <c:pt idx="6">
                  <c:v>18</c:v>
                </c:pt>
                <c:pt idx="7">
                  <c:v>19.14</c:v>
                </c:pt>
                <c:pt idx="8">
                  <c:v>24.11</c:v>
                </c:pt>
                <c:pt idx="9">
                  <c:v>35.25</c:v>
                </c:pt>
                <c:pt idx="10">
                  <c:v>19.95</c:v>
                </c:pt>
                <c:pt idx="11">
                  <c:v>24.08</c:v>
                </c:pt>
                <c:pt idx="12">
                  <c:v>45.28</c:v>
                </c:pt>
                <c:pt idx="13">
                  <c:v>14</c:v>
                </c:pt>
              </c:numCache>
            </c:numRef>
          </c:val>
          <c:smooth val="0"/>
        </c:ser>
        <c:hiLowLines>
          <c:spPr>
            <a:ln w="0">
              <a:noFill/>
            </a:ln>
          </c:spPr>
        </c:hiLowLines>
        <c:marker val="1"/>
        <c:axId val="44331007"/>
        <c:axId val="70319763"/>
      </c:lineChart>
      <c:catAx>
        <c:axId val="44331007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900" spc="-1" strike="noStrike">
                <a:solidFill>
                  <a:srgbClr val="222222"/>
                </a:solidFill>
                <a:latin typeface="Calibri"/>
              </a:defRPr>
            </a:pPr>
          </a:p>
        </c:txPr>
        <c:crossAx val="70319763"/>
        <c:crosses val="autoZero"/>
        <c:auto val="1"/>
        <c:lblAlgn val="ctr"/>
        <c:lblOffset val="100"/>
        <c:noMultiLvlLbl val="0"/>
      </c:catAx>
      <c:valAx>
        <c:axId val="70319763"/>
        <c:scaling>
          <c:orientation val="minMax"/>
        </c:scaling>
        <c:delete val="0"/>
        <c:axPos val="l"/>
        <c:majorGridlines>
          <c:spPr>
            <a:ln w="6480">
              <a:solidFill>
                <a:srgbClr val="dddddd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000" spc="-1" strike="noStrike">
                <a:solidFill>
                  <a:srgbClr val="5a6275"/>
                </a:solidFill>
                <a:latin typeface="Calibri"/>
              </a:defRPr>
            </a:pPr>
          </a:p>
        </c:txPr>
        <c:crossAx val="44331007"/>
        <c:crosses val="autoZero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noFill/>
    <a:ln w="0">
      <a:noFill/>
    </a:ln>
  </c:spPr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SAR M</c:v>
                </c:pt>
              </c:strCache>
            </c:strRef>
          </c:tx>
          <c:spPr>
            <a:solidFill>
              <a:srgbClr val="1f2a44"/>
            </a:solidFill>
            <a:ln w="0">
              <a:noFill/>
            </a:ln>
          </c:spPr>
          <c:invertIfNegative val="0"/>
          <c:dPt>
            <c:idx val="0"/>
            <c:invertIfNegative val="0"/>
            <c:spPr>
              <a:solidFill>
                <a:srgbClr val="1f2a44"/>
              </a:solidFill>
              <a:ln w="0">
                <a:noFill/>
              </a:ln>
            </c:spPr>
          </c:dPt>
          <c:dPt>
            <c:idx val="1"/>
            <c:invertIfNegative val="0"/>
            <c:spPr>
              <a:solidFill>
                <a:srgbClr val="1f2a44"/>
              </a:solidFill>
              <a:ln w="0">
                <a:noFill/>
              </a:ln>
            </c:spPr>
          </c:dPt>
          <c:dPt>
            <c:idx val="2"/>
            <c:invertIfNegative val="0"/>
            <c:spPr>
              <a:solidFill>
                <a:srgbClr val="1f2a44"/>
              </a:solidFill>
              <a:ln w="0">
                <a:noFill/>
              </a:ln>
            </c:spPr>
          </c:dPt>
          <c:dPt>
            <c:idx val="3"/>
            <c:invertIfNegative val="0"/>
            <c:spPr>
              <a:solidFill>
                <a:srgbClr val="1f2a44"/>
              </a:solidFill>
              <a:ln w="0">
                <a:noFill/>
              </a:ln>
            </c:spPr>
          </c:dPt>
          <c:dPt>
            <c:idx val="4"/>
            <c:invertIfNegative val="0"/>
            <c:spPr>
              <a:solidFill>
                <a:srgbClr val="b8860b"/>
              </a:solidFill>
              <a:ln w="0">
                <a:noFill/>
              </a:ln>
            </c:spPr>
          </c:dPt>
          <c:dPt>
            <c:idx val="5"/>
            <c:invertIfNegative val="0"/>
            <c:spPr>
              <a:solidFill>
                <a:srgbClr val="1f2a44"/>
              </a:solidFill>
              <a:ln w="0">
                <a:noFill/>
              </a:ln>
            </c:spPr>
          </c:dPt>
          <c:dPt>
            <c:idx val="6"/>
            <c:invertIfNegative val="0"/>
            <c:spPr>
              <a:solidFill>
                <a:srgbClr val="1f2a44"/>
              </a:solidFill>
              <a:ln w="0">
                <a:noFill/>
              </a:ln>
            </c:spPr>
          </c:dPt>
          <c:dLbls>
            <c:numFmt formatCode="0" sourceLinked="0"/>
            <c:dLbl>
              <c:idx val="0"/>
              <c:numFmt formatCode="0" sourceLinked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222222"/>
                      </a:solidFill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1"/>
              <c:numFmt formatCode="0" sourceLinked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222222"/>
                      </a:solidFill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2"/>
              <c:numFmt formatCode="0" sourceLinked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222222"/>
                      </a:solidFill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3"/>
              <c:numFmt formatCode="0" sourceLinked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222222"/>
                      </a:solidFill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4"/>
              <c:numFmt formatCode="0" sourceLinked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222222"/>
                      </a:solidFill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5"/>
              <c:numFmt formatCode="0" sourceLinked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222222"/>
                      </a:solidFill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6"/>
              <c:numFmt formatCode="0" sourceLinked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222222"/>
                      </a:solidFill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0" sz="1000" spc="-1" strike="noStrike">
                    <a:solidFill>
                      <a:srgbClr val="222222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7"/>
                <c:pt idx="0">
                  <c:v>44.42</c:v>
                </c:pt>
                <c:pt idx="1">
                  <c:v>43.44</c:v>
                </c:pt>
                <c:pt idx="2">
                  <c:v>43.61</c:v>
                </c:pt>
                <c:pt idx="3">
                  <c:v>50.83</c:v>
                </c:pt>
                <c:pt idx="4">
                  <c:v>71.86</c:v>
                </c:pt>
                <c:pt idx="5">
                  <c:v>52.57</c:v>
                </c:pt>
                <c:pt idx="6">
                  <c:v>41.61</c:v>
                </c:pt>
              </c:numCache>
            </c:numRef>
          </c:val>
        </c:ser>
        <c:gapWidth val="50"/>
        <c:overlap val="0"/>
        <c:axId val="83781920"/>
        <c:axId val="28728030"/>
      </c:barChart>
      <c:catAx>
        <c:axId val="83781920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000" spc="-1" strike="noStrike">
                <a:solidFill>
                  <a:srgbClr val="222222"/>
                </a:solidFill>
                <a:latin typeface="Calibri"/>
              </a:defRPr>
            </a:pPr>
          </a:p>
        </c:txPr>
        <c:crossAx val="28728030"/>
        <c:crosses val="autoZero"/>
        <c:auto val="1"/>
        <c:lblAlgn val="ctr"/>
        <c:lblOffset val="100"/>
        <c:noMultiLvlLbl val="0"/>
      </c:catAx>
      <c:valAx>
        <c:axId val="28728030"/>
        <c:scaling>
          <c:orientation val="minMax"/>
        </c:scaling>
        <c:delete val="0"/>
        <c:axPos val="l"/>
        <c:majorGridlines>
          <c:spPr>
            <a:ln w="6480">
              <a:solidFill>
                <a:srgbClr val="dddddd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000" spc="-1" strike="noStrike">
                <a:solidFill>
                  <a:srgbClr val="5a6275"/>
                </a:solidFill>
                <a:latin typeface="Calibri"/>
              </a:defRPr>
            </a:pPr>
          </a:p>
        </c:txPr>
        <c:crossAx val="83781920"/>
        <c:crosses val="autoZero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noFill/>
    <a:ln w="0">
      <a:noFill/>
    </a:ln>
  </c:spPr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SAR M</c:v>
                </c:pt>
              </c:strCache>
            </c:strRef>
          </c:tx>
          <c:spPr>
            <a:solidFill>
              <a:srgbClr val="9aa3b2"/>
            </a:solidFill>
            <a:ln w="0">
              <a:noFill/>
            </a:ln>
          </c:spPr>
          <c:invertIfNegative val="0"/>
          <c:dPt>
            <c:idx val="0"/>
            <c:invertIfNegative val="0"/>
            <c:spPr>
              <a:solidFill>
                <a:srgbClr val="9aa3b2"/>
              </a:solidFill>
              <a:ln w="0">
                <a:noFill/>
              </a:ln>
            </c:spPr>
          </c:dPt>
          <c:dPt>
            <c:idx val="1"/>
            <c:invertIfNegative val="0"/>
            <c:spPr>
              <a:solidFill>
                <a:srgbClr val="9aa3b2"/>
              </a:solidFill>
              <a:ln w="0">
                <a:noFill/>
              </a:ln>
            </c:spPr>
          </c:dPt>
          <c:dPt>
            <c:idx val="2"/>
            <c:invertIfNegative val="0"/>
            <c:spPr>
              <a:solidFill>
                <a:srgbClr val="9aa3b2"/>
              </a:solidFill>
              <a:ln w="0">
                <a:noFill/>
              </a:ln>
            </c:spPr>
          </c:dPt>
          <c:dPt>
            <c:idx val="3"/>
            <c:invertIfNegative val="0"/>
            <c:spPr>
              <a:solidFill>
                <a:srgbClr val="1f2a44"/>
              </a:solidFill>
              <a:ln w="0">
                <a:noFill/>
              </a:ln>
            </c:spPr>
          </c:dPt>
          <c:dPt>
            <c:idx val="4"/>
            <c:invertIfNegative val="0"/>
            <c:spPr>
              <a:solidFill>
                <a:srgbClr val="1f2a44"/>
              </a:solidFill>
              <a:ln w="0">
                <a:noFill/>
              </a:ln>
            </c:spPr>
          </c:dPt>
          <c:dPt>
            <c:idx val="5"/>
            <c:invertIfNegative val="0"/>
            <c:spPr>
              <a:solidFill>
                <a:srgbClr val="1f2a44"/>
              </a:solidFill>
              <a:ln w="0">
                <a:noFill/>
              </a:ln>
            </c:spPr>
          </c:dPt>
          <c:dPt>
            <c:idx val="6"/>
            <c:invertIfNegative val="0"/>
            <c:spPr>
              <a:solidFill>
                <a:srgbClr val="1f2a44"/>
              </a:solidFill>
              <a:ln w="0">
                <a:noFill/>
              </a:ln>
            </c:spPr>
          </c:dPt>
          <c:dPt>
            <c:idx val="7"/>
            <c:invertIfNegative val="0"/>
            <c:spPr>
              <a:solidFill>
                <a:srgbClr val="1f2a44"/>
              </a:solidFill>
              <a:ln w="0">
                <a:noFill/>
              </a:ln>
            </c:spPr>
          </c:dPt>
          <c:dLbls>
            <c:numFmt formatCode="0" sourceLinked="0"/>
            <c:dLbl>
              <c:idx val="0"/>
              <c:numFmt formatCode="0" sourceLinked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222222"/>
                      </a:solidFill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1"/>
              <c:numFmt formatCode="0" sourceLinked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222222"/>
                      </a:solidFill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2"/>
              <c:numFmt formatCode="0" sourceLinked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222222"/>
                      </a:solidFill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3"/>
              <c:numFmt formatCode="0" sourceLinked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222222"/>
                      </a:solidFill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4"/>
              <c:numFmt formatCode="0" sourceLinked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222222"/>
                      </a:solidFill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5"/>
              <c:numFmt formatCode="0" sourceLinked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222222"/>
                      </a:solidFill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6"/>
              <c:numFmt formatCode="0" sourceLinked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222222"/>
                      </a:solidFill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7"/>
              <c:numFmt formatCode="0" sourceLinked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222222"/>
                      </a:solidFill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0" sz="1000" spc="-1" strike="noStrike">
                    <a:solidFill>
                      <a:srgbClr val="222222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8"/>
                <c:pt idx="0">
                  <c:v>SILVER</c:v>
                </c:pt>
                <c:pt idx="1">
                  <c:v>PRESELT</c:v>
                </c:pt>
                <c:pt idx="2">
                  <c:v>RING</c:v>
                </c:pt>
                <c:pt idx="3">
                  <c:v>EARING</c:v>
                </c:pt>
                <c:pt idx="4">
                  <c:v>BANGLE</c:v>
                </c:pt>
                <c:pt idx="5">
                  <c:v>NECKLACE</c:v>
                </c:pt>
                <c:pt idx="6">
                  <c:v>CHAIN</c:v>
                </c:pt>
                <c:pt idx="7">
                  <c:v>GOLD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8"/>
                <c:pt idx="0">
                  <c:v>10.15</c:v>
                </c:pt>
                <c:pt idx="1">
                  <c:v>10.32</c:v>
                </c:pt>
                <c:pt idx="2">
                  <c:v>17.15</c:v>
                </c:pt>
                <c:pt idx="3">
                  <c:v>29.69</c:v>
                </c:pt>
                <c:pt idx="4">
                  <c:v>35.36</c:v>
                </c:pt>
                <c:pt idx="5">
                  <c:v>36.91</c:v>
                </c:pt>
                <c:pt idx="6">
                  <c:v>56.49</c:v>
                </c:pt>
                <c:pt idx="7">
                  <c:v>100.07</c:v>
                </c:pt>
              </c:numCache>
            </c:numRef>
          </c:val>
        </c:ser>
        <c:gapWidth val="50"/>
        <c:overlap val="0"/>
        <c:axId val="24741488"/>
        <c:axId val="71960472"/>
      </c:barChart>
      <c:catAx>
        <c:axId val="2474148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000" spc="-1" strike="noStrike">
                <a:solidFill>
                  <a:srgbClr val="222222"/>
                </a:solidFill>
                <a:latin typeface="Calibri"/>
              </a:defRPr>
            </a:pPr>
          </a:p>
        </c:txPr>
        <c:crossAx val="71960472"/>
        <c:crosses val="autoZero"/>
        <c:auto val="1"/>
        <c:lblAlgn val="ctr"/>
        <c:lblOffset val="100"/>
        <c:noMultiLvlLbl val="0"/>
      </c:catAx>
      <c:valAx>
        <c:axId val="71960472"/>
        <c:scaling>
          <c:orientation val="minMax"/>
        </c:scaling>
        <c:delete val="0"/>
        <c:axPos val="l"/>
        <c:majorGridlines>
          <c:spPr>
            <a:ln w="6480">
              <a:solidFill>
                <a:srgbClr val="dddddd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000" spc="-1" strike="noStrike">
                <a:solidFill>
                  <a:srgbClr val="5a6275"/>
                </a:solidFill>
                <a:latin typeface="Calibri"/>
              </a:defRPr>
            </a:pPr>
          </a:p>
        </c:txPr>
        <c:crossAx val="24741488"/>
        <c:crosses val="autoZero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noFill/>
    <a:ln w="0">
      <a:noFill/>
    </a:ln>
  </c:spPr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AE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AE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AE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AE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AE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A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dt" idx="2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A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AE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A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ftr" idx="3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A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AE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A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6"/>
          <p:cNvSpPr>
            <a:spLocks noGrp="1"/>
          </p:cNvSpPr>
          <p:nvPr>
            <p:ph type="sldNum" idx="4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A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C95AA6EE-35E0-4643-B0B1-927701DD24B4}" type="slidenum">
              <a:rPr b="0" lang="en-AE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AE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Introduce the project: a fictional Saudi jewellery retailer, PostgreSQL + Excel + Power BI, eight business questions.</a:t>
            </a:r>
            <a:endParaRPr b="0" lang="en-AE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49D8814-8706-48B0-9C81-0F12E720C37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AE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Headline numbers use sales only (returns excluded). Three messages to remember: concentration, retention, product mix.</a:t>
            </a:r>
            <a:endParaRPr b="0" lang="en-AE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2411FBE-C323-423E-9194-35BB245A2A1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AE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C-01 Branch performance. Revenue by branch, SAR million, sales only. Branch 20 and Branches 11/14 are not shown.</a:t>
            </a:r>
            <a:endParaRPr b="0" lang="en-AE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DEC4695-3B82-4B92-A716-E9C04E61F96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AE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C-02 Retention. Segments by number of invoices. An occasional customer spends about SAR 13,900 vs 5,200 for a one-time customer. Buy-back repeat rate 45.7% (917 of 2,007) vs 14.6%, possibly inflated by generic customer IDs. Loyalty points: only 254 payments. Branch 05's high repeat rate rests on only 109 customers, probably generic IDs.</a:t>
            </a:r>
            <a:endParaRPr b="0" lang="en-AE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FA5AAAA-8312-4D68-AB70-579BEBC0FA4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AE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C-03 Returns. Return count divided by sale invoices, by branch.</a:t>
            </a:r>
            <a:endParaRPr b="0" lang="en-AE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71381A3-3483-45AB-80C1-B3BB74A48FB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AE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C-04 Payment modes. Share of money collected. Total collected is about SAR 4.3M above sales-only revenue, likely return lines.</a:t>
            </a:r>
            <a:endParaRPr b="0" lang="en-AE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BC63098-DC5D-4843-8066-9D0D80024F6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AE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C-05 Old gold buy-back. Buy-back payout by branch, top 8, SAR million. This is an association, not proof that buy-back causes higher spending.</a:t>
            </a:r>
            <a:endParaRPr b="0" lang="en-AE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CCCB43B-EDEC-447F-80DD-FD676D1864A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AE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C-06 Salesperson effectiveness. Gold bars are IDs that equal a whole branch. Recommend individual logins.</a:t>
            </a:r>
            <a:endParaRPr b="0" lang="en-AE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EC5B564-06D8-4DDF-8CB4-B4EE2070F59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AE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C-07 Daily and seasonal patterns. We cannot say why months peak from this data; check holidays, campaigns and gold prices.</a:t>
            </a:r>
            <a:endParaRPr b="0" lang="en-AE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C3FC198-874F-43C9-975F-5DD8251B329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AE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C-08 Karat and product mix. Dark bars are the top five item types, 75% of revenue.</a:t>
            </a:r>
            <a:endParaRPr b="0" lang="en-AE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C26B79A-EC01-4A25-AA04-820DC6BB037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AE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Actions 1 to 3 are the highest priority.</a:t>
            </a:r>
            <a:endParaRPr b="0" lang="en-AE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B142C72-2220-40DD-8AC9-26323E33F53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AE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Close with the limitations, then point to the repo.</a:t>
            </a:r>
            <a:endParaRPr b="0" lang="en-AE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AA6A5FC-D605-458D-BDDC-F3A1897FA9A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AE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5ECE31F0-48AD-43B2-ACAD-F9A2D6597082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sldNum" idx="1"/>
          </p:nvPr>
        </p:nvSpPr>
        <p:spPr>
          <a:xfrm>
            <a:off x="8412480" y="475488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000" spc="-1" strike="noStrike">
                <a:solidFill>
                  <a:srgbClr val="5a6275"/>
                </a:solidFill>
                <a:latin typeface="Calibri"/>
                <a:ea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AB110824-BBEE-432C-BBAE-A4F1964BD755}" type="slidenum">
              <a:rPr b="0" lang="en-US" sz="1000" spc="-1" strike="noStrike">
                <a:solidFill>
                  <a:srgbClr val="5a6275"/>
                </a:solidFill>
                <a:latin typeface="Calibri"/>
                <a:ea typeface="Calibri"/>
              </a:rPr>
              <a:t>&lt;number&gt;</a:t>
            </a:fld>
            <a:endParaRPr b="0" lang="en-AE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AE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AE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AE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AE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AE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AE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AE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AE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AE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AE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AE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AE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AE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AE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AE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AE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AE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AE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AE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AE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AE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AE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AE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AE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AE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AE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AE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AE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AE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AE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AE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AE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chart" Target="../charts/chart6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chart" Target="../charts/chart7.xml"/><Relationship Id="rId2" Type="http://schemas.openxmlformats.org/officeDocument/2006/relationships/chart" Target="../charts/chart8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chart" Target="../charts/chart9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0"/>
          <p:cNvSpPr/>
          <p:nvPr/>
        </p:nvSpPr>
        <p:spPr>
          <a:xfrm>
            <a:off x="640080" y="1097280"/>
            <a:ext cx="7863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b8860b"/>
                </a:solidFill>
                <a:latin typeface="Calibri"/>
                <a:ea typeface="Calibri"/>
              </a:rPr>
              <a:t>UPCODE SOFTWARE LABS  |  DATA ANALYST CAPSTONE</a:t>
            </a:r>
            <a:endParaRPr b="0" lang="en-AE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Text 1"/>
          <p:cNvSpPr/>
          <p:nvPr/>
        </p:nvSpPr>
        <p:spPr>
          <a:xfrm>
            <a:off x="640080" y="1645920"/>
            <a:ext cx="78634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Cambria"/>
                <a:ea typeface="Cambria"/>
              </a:rPr>
              <a:t>GoldVista Retail Analytics</a:t>
            </a:r>
            <a:endParaRPr b="0" lang="en-AE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Text 2"/>
          <p:cNvSpPr/>
          <p:nvPr/>
        </p:nvSpPr>
        <p:spPr>
          <a:xfrm>
            <a:off x="640080" y="2651760"/>
            <a:ext cx="78634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dde1ea"/>
                </a:solidFill>
                <a:latin typeface="Calibri"/>
                <a:ea typeface="Calibri"/>
              </a:rPr>
              <a:t>Eight business challenges across 18 branches, Jan 2025 – Feb 2026</a:t>
            </a:r>
            <a:endParaRPr b="0" lang="en-AE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Text 3"/>
          <p:cNvSpPr/>
          <p:nvPr/>
        </p:nvSpPr>
        <p:spPr>
          <a:xfrm>
            <a:off x="640080" y="4114800"/>
            <a:ext cx="7863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9aa3b2"/>
                </a:solidFill>
                <a:latin typeface="Calibri"/>
                <a:ea typeface="Calibri"/>
              </a:rPr>
              <a:t>Aliya Arakkal Ameer  |  October 2026</a:t>
            </a:r>
            <a:endParaRPr b="0" lang="en-AE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0"/>
          <p:cNvSpPr/>
          <p:nvPr/>
        </p:nvSpPr>
        <p:spPr>
          <a:xfrm>
            <a:off x="457200" y="274320"/>
            <a:ext cx="8229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1f2a44"/>
                </a:solidFill>
                <a:latin typeface="Cambria"/>
                <a:ea typeface="Cambria"/>
              </a:rPr>
              <a:t>GoldVista earned SAR 348M, but most customers buy only once</a:t>
            </a:r>
            <a:endParaRPr b="0" lang="en-AE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Shape 1"/>
          <p:cNvSpPr/>
          <p:nvPr/>
        </p:nvSpPr>
        <p:spPr>
          <a:xfrm>
            <a:off x="457200" y="1463040"/>
            <a:ext cx="1919880" cy="1554120"/>
          </a:xfrm>
          <a:prstGeom prst="roundRect">
            <a:avLst>
              <a:gd name="adj" fmla="val 4706"/>
            </a:avLst>
          </a:prstGeom>
          <a:solidFill>
            <a:srgbClr val="eef0f5"/>
          </a:solidFill>
          <a:ln w="12700">
            <a:solidFill>
              <a:srgbClr val="eef0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A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Text 2"/>
          <p:cNvSpPr/>
          <p:nvPr/>
        </p:nvSpPr>
        <p:spPr>
          <a:xfrm>
            <a:off x="594360" y="1600200"/>
            <a:ext cx="16912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f2a44"/>
                </a:solidFill>
                <a:latin typeface="Cambria"/>
                <a:ea typeface="Cambria"/>
              </a:rPr>
              <a:t>SAR 348M</a:t>
            </a:r>
            <a:endParaRPr b="0" lang="en-AE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Text 3"/>
          <p:cNvSpPr/>
          <p:nvPr/>
        </p:nvSpPr>
        <p:spPr>
          <a:xfrm>
            <a:off x="594360" y="2331720"/>
            <a:ext cx="1691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5a6275"/>
                </a:solidFill>
                <a:latin typeface="Calibri"/>
                <a:ea typeface="Calibri"/>
              </a:rPr>
              <a:t>Revenue, Jan 2025 – Feb 2026</a:t>
            </a:r>
            <a:endParaRPr b="0" lang="en-AE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Shape 4"/>
          <p:cNvSpPr/>
          <p:nvPr/>
        </p:nvSpPr>
        <p:spPr>
          <a:xfrm>
            <a:off x="2560320" y="1463040"/>
            <a:ext cx="1919880" cy="1554120"/>
          </a:xfrm>
          <a:prstGeom prst="roundRect">
            <a:avLst>
              <a:gd name="adj" fmla="val 4706"/>
            </a:avLst>
          </a:prstGeom>
          <a:solidFill>
            <a:srgbClr val="eef0f5"/>
          </a:solidFill>
          <a:ln w="12700">
            <a:solidFill>
              <a:srgbClr val="eef0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A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Text 5"/>
          <p:cNvSpPr/>
          <p:nvPr/>
        </p:nvSpPr>
        <p:spPr>
          <a:xfrm>
            <a:off x="2697480" y="1600200"/>
            <a:ext cx="16912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f2a44"/>
                </a:solidFill>
                <a:latin typeface="Cambria"/>
                <a:ea typeface="Cambria"/>
              </a:rPr>
              <a:t>61,361</a:t>
            </a:r>
            <a:endParaRPr b="0" lang="en-AE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Text 6"/>
          <p:cNvSpPr/>
          <p:nvPr/>
        </p:nvSpPr>
        <p:spPr>
          <a:xfrm>
            <a:off x="2697480" y="2331720"/>
            <a:ext cx="1691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5a6275"/>
                </a:solidFill>
                <a:latin typeface="Calibri"/>
                <a:ea typeface="Calibri"/>
              </a:rPr>
              <a:t>Invoices</a:t>
            </a:r>
            <a:endParaRPr b="0" lang="en-AE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Shape 7"/>
          <p:cNvSpPr/>
          <p:nvPr/>
        </p:nvSpPr>
        <p:spPr>
          <a:xfrm>
            <a:off x="4663440" y="1463040"/>
            <a:ext cx="1919880" cy="1554120"/>
          </a:xfrm>
          <a:prstGeom prst="roundRect">
            <a:avLst>
              <a:gd name="adj" fmla="val 4706"/>
            </a:avLst>
          </a:prstGeom>
          <a:solidFill>
            <a:srgbClr val="eef0f5"/>
          </a:solidFill>
          <a:ln w="12700">
            <a:solidFill>
              <a:srgbClr val="eef0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A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Text 8"/>
          <p:cNvSpPr/>
          <p:nvPr/>
        </p:nvSpPr>
        <p:spPr>
          <a:xfrm>
            <a:off x="4800600" y="1600200"/>
            <a:ext cx="16912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f2a44"/>
                </a:solidFill>
                <a:latin typeface="Cambria"/>
                <a:ea typeface="Cambria"/>
              </a:rPr>
              <a:t>45,363</a:t>
            </a:r>
            <a:endParaRPr b="0" lang="en-AE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Text 9"/>
          <p:cNvSpPr/>
          <p:nvPr/>
        </p:nvSpPr>
        <p:spPr>
          <a:xfrm>
            <a:off x="4800600" y="2331720"/>
            <a:ext cx="1691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5a6275"/>
                </a:solidFill>
                <a:latin typeface="Calibri"/>
                <a:ea typeface="Calibri"/>
              </a:rPr>
              <a:t>Customers</a:t>
            </a:r>
            <a:endParaRPr b="0" lang="en-AE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Shape 10"/>
          <p:cNvSpPr/>
          <p:nvPr/>
        </p:nvSpPr>
        <p:spPr>
          <a:xfrm>
            <a:off x="6766560" y="1463040"/>
            <a:ext cx="1919880" cy="1554120"/>
          </a:xfrm>
          <a:prstGeom prst="roundRect">
            <a:avLst>
              <a:gd name="adj" fmla="val 4706"/>
            </a:avLst>
          </a:prstGeom>
          <a:solidFill>
            <a:srgbClr val="eef0f5"/>
          </a:solidFill>
          <a:ln w="12700">
            <a:solidFill>
              <a:srgbClr val="eef0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A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Text 11"/>
          <p:cNvSpPr/>
          <p:nvPr/>
        </p:nvSpPr>
        <p:spPr>
          <a:xfrm>
            <a:off x="6903720" y="1600200"/>
            <a:ext cx="16912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f2a44"/>
                </a:solidFill>
                <a:latin typeface="Cambria"/>
                <a:ea typeface="Cambria"/>
              </a:rPr>
              <a:t>1.75%</a:t>
            </a:r>
            <a:endParaRPr b="0" lang="en-AE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Text 12"/>
          <p:cNvSpPr/>
          <p:nvPr/>
        </p:nvSpPr>
        <p:spPr>
          <a:xfrm>
            <a:off x="6903720" y="2331720"/>
            <a:ext cx="1691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5a6275"/>
                </a:solidFill>
                <a:latin typeface="Calibri"/>
                <a:ea typeface="Calibri"/>
              </a:rPr>
              <a:t>Return rate</a:t>
            </a:r>
            <a:endParaRPr b="0" lang="en-AE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Text 13"/>
          <p:cNvSpPr/>
          <p:nvPr/>
        </p:nvSpPr>
        <p:spPr>
          <a:xfrm>
            <a:off x="457200" y="3337560"/>
            <a:ext cx="82292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22222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222222"/>
                </a:solidFill>
                <a:latin typeface="Calibri"/>
                <a:ea typeface="Calibri"/>
              </a:rPr>
              <a:t>Revenue is concentrated: three branches bring in about 30%</a:t>
            </a:r>
            <a:endParaRPr b="0" lang="en-AE" sz="1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22222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222222"/>
                </a:solidFill>
                <a:latin typeface="Calibri"/>
                <a:ea typeface="Calibri"/>
              </a:rPr>
              <a:t>84% of customers bought once; repeat buyers return after about 32 days</a:t>
            </a:r>
            <a:endParaRPr b="0" lang="en-AE" sz="1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22222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222222"/>
                </a:solidFill>
                <a:latin typeface="Calibri"/>
                <a:ea typeface="Calibri"/>
              </a:rPr>
              <a:t>Friday is the peak day, and 22K and 24K gold make up about 90% of sales</a:t>
            </a:r>
            <a:endParaRPr b="0" lang="en-AE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1"/>
          <p:cNvSpPr>
            <a:spLocks noGrp="1"/>
          </p:cNvSpPr>
          <p:nvPr>
            <p:ph type="sldNum" idx="5"/>
          </p:nvPr>
        </p:nvSpPr>
        <p:spPr>
          <a:xfrm>
            <a:off x="8412480" y="475488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000" spc="-1" strike="noStrike">
                <a:solidFill>
                  <a:srgbClr val="5a6275"/>
                </a:solidFill>
                <a:latin typeface="Calibri"/>
                <a:ea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8FED60A7-5581-4B0F-B5AC-EB3A45EE9D71}" type="slidenum">
              <a:rPr b="0" lang="en-US" sz="1000" spc="-1" strike="noStrike">
                <a:solidFill>
                  <a:srgbClr val="5a6275"/>
                </a:solidFill>
                <a:latin typeface="Calibri"/>
                <a:ea typeface="Calibri"/>
              </a:rPr>
              <a:t>2</a:t>
            </a:fld>
            <a:endParaRPr b="0" lang="en-AE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0"/>
          <p:cNvSpPr/>
          <p:nvPr/>
        </p:nvSpPr>
        <p:spPr>
          <a:xfrm>
            <a:off x="457200" y="274320"/>
            <a:ext cx="8229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1f2a44"/>
                </a:solidFill>
                <a:latin typeface="Cambria"/>
                <a:ea typeface="Cambria"/>
              </a:rPr>
              <a:t>Three branches deliver 30% of revenue; five branches have partial data</a:t>
            </a:r>
            <a:endParaRPr b="0" lang="en-AE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Text 1"/>
          <p:cNvSpPr/>
          <p:nvPr/>
        </p:nvSpPr>
        <p:spPr>
          <a:xfrm>
            <a:off x="457200" y="1371600"/>
            <a:ext cx="320004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22222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222222"/>
                </a:solidFill>
                <a:latin typeface="Calibri"/>
                <a:ea typeface="Calibri"/>
              </a:rPr>
              <a:t>Branches 16, 02 and 01: SAR 106M of 348M</a:t>
            </a:r>
            <a:endParaRPr b="0" lang="en-AE" sz="1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22222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222222"/>
                </a:solidFill>
                <a:latin typeface="Calibri"/>
                <a:ea typeface="Calibri"/>
              </a:rPr>
              <a:t>Branch 08 has the most invoices but a low average ticket (about SAR 2,650)</a:t>
            </a:r>
            <a:endParaRPr b="0" lang="en-AE" sz="1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22222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222222"/>
                </a:solidFill>
                <a:latin typeface="Calibri"/>
                <a:ea typeface="Calibri"/>
              </a:rPr>
              <a:t>Branch 18 sells the most weight (silver) but ranks 13th by revenue</a:t>
            </a:r>
            <a:endParaRPr b="0" lang="en-AE" sz="1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22222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222222"/>
                </a:solidFill>
                <a:latin typeface="Calibri"/>
                <a:ea typeface="Calibri"/>
              </a:rPr>
              <a:t>Branches 04, 06, 15, 17 stop after Mar 2025</a:t>
            </a:r>
            <a:endParaRPr b="0" lang="en-AE" sz="1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32" name="Chart 0"/>
          <p:cNvGraphicFramePr/>
          <p:nvPr/>
        </p:nvGraphicFramePr>
        <p:xfrm>
          <a:off x="3840480" y="1280160"/>
          <a:ext cx="4937400" cy="3382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3" name="PlaceHolder 1"/>
          <p:cNvSpPr>
            <a:spLocks noGrp="1"/>
          </p:cNvSpPr>
          <p:nvPr>
            <p:ph type="sldNum" idx="6"/>
          </p:nvPr>
        </p:nvSpPr>
        <p:spPr>
          <a:xfrm>
            <a:off x="8412480" y="475488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000" spc="-1" strike="noStrike">
                <a:solidFill>
                  <a:srgbClr val="5a6275"/>
                </a:solidFill>
                <a:latin typeface="Calibri"/>
                <a:ea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5E1BF1CD-A7D6-422C-A200-EE6330D6F66B}" type="slidenum">
              <a:rPr b="0" lang="en-US" sz="1000" spc="-1" strike="noStrike">
                <a:solidFill>
                  <a:srgbClr val="5a6275"/>
                </a:solidFill>
                <a:latin typeface="Calibri"/>
                <a:ea typeface="Calibri"/>
              </a:rPr>
              <a:t>3</a:t>
            </a:fld>
            <a:endParaRPr b="0" lang="en-AE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0"/>
          <p:cNvSpPr/>
          <p:nvPr/>
        </p:nvSpPr>
        <p:spPr>
          <a:xfrm>
            <a:off x="457200" y="274320"/>
            <a:ext cx="8229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1f2a44"/>
                </a:solidFill>
                <a:latin typeface="Cambria"/>
                <a:ea typeface="Cambria"/>
              </a:rPr>
              <a:t>84% bought only once, yet the 16% who return produce 43% of revenue</a:t>
            </a:r>
            <a:endParaRPr b="0" lang="en-AE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Text 1"/>
          <p:cNvSpPr/>
          <p:nvPr/>
        </p:nvSpPr>
        <p:spPr>
          <a:xfrm>
            <a:off x="457200" y="1371600"/>
            <a:ext cx="3200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1f2a44"/>
                </a:solidFill>
                <a:latin typeface="Cambria"/>
                <a:ea typeface="Cambria"/>
              </a:rPr>
              <a:t>31.7 days</a:t>
            </a:r>
            <a:endParaRPr b="0" lang="en-AE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Text 2"/>
          <p:cNvSpPr/>
          <p:nvPr/>
        </p:nvSpPr>
        <p:spPr>
          <a:xfrm>
            <a:off x="457200" y="2103120"/>
            <a:ext cx="3200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5a6275"/>
                </a:solidFill>
                <a:latin typeface="Calibri"/>
                <a:ea typeface="Calibri"/>
              </a:rPr>
              <a:t>Average gap to second purchase</a:t>
            </a:r>
            <a:endParaRPr b="0" lang="en-AE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Text 3"/>
          <p:cNvSpPr/>
          <p:nvPr/>
        </p:nvSpPr>
        <p:spPr>
          <a:xfrm>
            <a:off x="457200" y="2468880"/>
            <a:ext cx="3200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1f2a44"/>
                </a:solidFill>
                <a:latin typeface="Cambria"/>
                <a:ea typeface="Cambria"/>
              </a:rPr>
              <a:t>45.7%</a:t>
            </a:r>
            <a:endParaRPr b="0" lang="en-AE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Text 4"/>
          <p:cNvSpPr/>
          <p:nvPr/>
        </p:nvSpPr>
        <p:spPr>
          <a:xfrm>
            <a:off x="457200" y="3200400"/>
            <a:ext cx="3200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5a6275"/>
                </a:solidFill>
                <a:latin typeface="Calibri"/>
                <a:ea typeface="Calibri"/>
              </a:rPr>
              <a:t>Buy-back repeat rate (others: 14.6%)</a:t>
            </a:r>
            <a:endParaRPr b="0" lang="en-AE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Text 5"/>
          <p:cNvSpPr/>
          <p:nvPr/>
        </p:nvSpPr>
        <p:spPr>
          <a:xfrm>
            <a:off x="457200" y="3657600"/>
            <a:ext cx="32914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22222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222222"/>
                </a:solidFill>
                <a:latin typeface="Calibri"/>
                <a:ea typeface="Calibri"/>
              </a:rPr>
              <a:t>Repeat buyers: SAR 149M, 43% of revenue</a:t>
            </a:r>
            <a:endParaRPr b="0" lang="en-AE" sz="1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22222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222222"/>
                </a:solidFill>
                <a:latin typeface="Calibri"/>
                <a:ea typeface="Calibri"/>
              </a:rPr>
              <a:t>Branch 16 (top revenue): only 10.7% repeat rate</a:t>
            </a:r>
            <a:endParaRPr b="0" lang="en-AE" sz="1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40" name="Chart 0"/>
          <p:cNvGraphicFramePr/>
          <p:nvPr/>
        </p:nvGraphicFramePr>
        <p:xfrm>
          <a:off x="3931920" y="1280160"/>
          <a:ext cx="4845960" cy="3382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1" name="PlaceHolder 1"/>
          <p:cNvSpPr>
            <a:spLocks noGrp="1"/>
          </p:cNvSpPr>
          <p:nvPr>
            <p:ph type="sldNum" idx="7"/>
          </p:nvPr>
        </p:nvSpPr>
        <p:spPr>
          <a:xfrm>
            <a:off x="8412480" y="475488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000" spc="-1" strike="noStrike">
                <a:solidFill>
                  <a:srgbClr val="5a6275"/>
                </a:solidFill>
                <a:latin typeface="Calibri"/>
                <a:ea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214CE5FE-AE78-467F-A0D5-2D36CAFDCD1C}" type="slidenum">
              <a:rPr b="0" lang="en-US" sz="1000" spc="-1" strike="noStrike">
                <a:solidFill>
                  <a:srgbClr val="5a6275"/>
                </a:solidFill>
                <a:latin typeface="Calibri"/>
                <a:ea typeface="Calibri"/>
              </a:rPr>
              <a:t>4</a:t>
            </a:fld>
            <a:endParaRPr b="0" lang="en-AE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0"/>
          <p:cNvSpPr/>
          <p:nvPr/>
        </p:nvSpPr>
        <p:spPr>
          <a:xfrm>
            <a:off x="457200" y="274320"/>
            <a:ext cx="8229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1f2a44"/>
                </a:solidFill>
                <a:latin typeface="Cambria"/>
                <a:ea typeface="Cambria"/>
              </a:rPr>
              <a:t>Returns are low at 1.75%, with Branch 06 and Branch 08 standing out</a:t>
            </a:r>
            <a:endParaRPr b="0" lang="en-AE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Text 1"/>
          <p:cNvSpPr/>
          <p:nvPr/>
        </p:nvSpPr>
        <p:spPr>
          <a:xfrm>
            <a:off x="457200" y="1371600"/>
            <a:ext cx="3200040" cy="329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22222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222222"/>
                </a:solidFill>
                <a:latin typeface="Calibri"/>
                <a:ea typeface="Calibri"/>
              </a:rPr>
              <a:t>1,071 returns on 61,361 invoices</a:t>
            </a:r>
            <a:endParaRPr b="0" lang="en-AE" sz="1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22222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222222"/>
                </a:solidFill>
                <a:latin typeface="Calibri"/>
                <a:ea typeface="Calibri"/>
              </a:rPr>
              <a:t>Branch 06: 3.9%, but only 25 returns in three months</a:t>
            </a:r>
            <a:endParaRPr b="0" lang="en-AE" sz="1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22222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222222"/>
                </a:solidFill>
                <a:latin typeface="Calibri"/>
                <a:ea typeface="Calibri"/>
              </a:rPr>
              <a:t>Branch 08: 197 returns, the most by count</a:t>
            </a:r>
            <a:endParaRPr b="0" lang="en-AE" sz="1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22222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222222"/>
                </a:solidFill>
                <a:latin typeface="Calibri"/>
                <a:ea typeface="Calibri"/>
              </a:rPr>
              <a:t>Branch 10 is lowest at 0.7%</a:t>
            </a:r>
            <a:endParaRPr b="0" lang="en-AE" sz="1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22222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222222"/>
                </a:solidFill>
                <a:latin typeface="Calibri"/>
                <a:ea typeface="Calibri"/>
              </a:rPr>
              <a:t>No return reason is recorded</a:t>
            </a:r>
            <a:endParaRPr b="0" lang="en-AE" sz="1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44" name="Chart 0"/>
          <p:cNvGraphicFramePr/>
          <p:nvPr/>
        </p:nvGraphicFramePr>
        <p:xfrm>
          <a:off x="3840480" y="1280160"/>
          <a:ext cx="4937400" cy="3382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5" name="PlaceHolder 1"/>
          <p:cNvSpPr>
            <a:spLocks noGrp="1"/>
          </p:cNvSpPr>
          <p:nvPr>
            <p:ph type="sldNum" idx="8"/>
          </p:nvPr>
        </p:nvSpPr>
        <p:spPr>
          <a:xfrm>
            <a:off x="8412480" y="475488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000" spc="-1" strike="noStrike">
                <a:solidFill>
                  <a:srgbClr val="5a6275"/>
                </a:solidFill>
                <a:latin typeface="Calibri"/>
                <a:ea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418816D2-2D60-4277-9371-69C8F2111921}" type="slidenum">
              <a:rPr b="0" lang="en-US" sz="1000" spc="-1" strike="noStrike">
                <a:solidFill>
                  <a:srgbClr val="5a6275"/>
                </a:solidFill>
                <a:latin typeface="Calibri"/>
                <a:ea typeface="Calibri"/>
              </a:rPr>
              <a:t>5</a:t>
            </a:fld>
            <a:endParaRPr b="0" lang="en-AE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 0"/>
          <p:cNvSpPr/>
          <p:nvPr/>
        </p:nvSpPr>
        <p:spPr>
          <a:xfrm>
            <a:off x="457200" y="274320"/>
            <a:ext cx="8229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1f2a44"/>
                </a:solidFill>
                <a:latin typeface="Cambria"/>
                <a:ea typeface="Cambria"/>
              </a:rPr>
              <a:t>Cash is still 64% of what we collect; loyalty points are almost unused</a:t>
            </a:r>
            <a:endParaRPr b="0" lang="en-AE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Text 1"/>
          <p:cNvSpPr/>
          <p:nvPr/>
        </p:nvSpPr>
        <p:spPr>
          <a:xfrm>
            <a:off x="457200" y="1371600"/>
            <a:ext cx="3200040" cy="329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22222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222222"/>
                </a:solidFill>
                <a:latin typeface="Calibri"/>
                <a:ea typeface="Calibri"/>
              </a:rPr>
              <a:t>Cash: SAR 224.8M (45,103 payments)</a:t>
            </a:r>
            <a:endParaRPr b="0" lang="en-AE" sz="1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22222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222222"/>
                </a:solidFill>
                <a:latin typeface="Calibri"/>
                <a:ea typeface="Calibri"/>
              </a:rPr>
              <a:t>Card: SAR 111.1M (26,692 payments)</a:t>
            </a:r>
            <a:endParaRPr b="0" lang="en-AE" sz="1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22222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222222"/>
                </a:solidFill>
                <a:latin typeface="Calibri"/>
                <a:ea typeface="Calibri"/>
              </a:rPr>
              <a:t>Transfers are rare but large: SAR 16.7M from 1,140 payments</a:t>
            </a:r>
            <a:endParaRPr b="0" lang="en-AE" sz="1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22222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222222"/>
                </a:solidFill>
                <a:latin typeface="Calibri"/>
                <a:ea typeface="Calibri"/>
              </a:rPr>
              <a:t>Loyalty points: 254 payments in total</a:t>
            </a:r>
            <a:endParaRPr b="0" lang="en-AE" sz="1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48" name="Chart 0"/>
          <p:cNvGraphicFramePr/>
          <p:nvPr/>
        </p:nvGraphicFramePr>
        <p:xfrm>
          <a:off x="3840480" y="1280160"/>
          <a:ext cx="4937400" cy="3382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9" name="PlaceHolder 1"/>
          <p:cNvSpPr>
            <a:spLocks noGrp="1"/>
          </p:cNvSpPr>
          <p:nvPr>
            <p:ph type="sldNum" idx="9"/>
          </p:nvPr>
        </p:nvSpPr>
        <p:spPr>
          <a:xfrm>
            <a:off x="8412480" y="475488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000" spc="-1" strike="noStrike">
                <a:solidFill>
                  <a:srgbClr val="5a6275"/>
                </a:solidFill>
                <a:latin typeface="Calibri"/>
                <a:ea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7849907D-817D-429C-BB94-4A05535078BE}" type="slidenum">
              <a:rPr b="0" lang="en-US" sz="1000" spc="-1" strike="noStrike">
                <a:solidFill>
                  <a:srgbClr val="5a6275"/>
                </a:solidFill>
                <a:latin typeface="Calibri"/>
                <a:ea typeface="Calibri"/>
              </a:rPr>
              <a:t>6</a:t>
            </a:fld>
            <a:endParaRPr b="0" lang="en-AE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 0"/>
          <p:cNvSpPr/>
          <p:nvPr/>
        </p:nvSpPr>
        <p:spPr>
          <a:xfrm>
            <a:off x="457200" y="274320"/>
            <a:ext cx="8229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1f2a44"/>
                </a:solidFill>
                <a:latin typeface="Cambria"/>
                <a:ea typeface="Cambria"/>
              </a:rPr>
              <a:t>Customers who sell old gold spend 12% more per invoice, yet few branches push it</a:t>
            </a:r>
            <a:endParaRPr b="0" lang="en-AE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Text 1"/>
          <p:cNvSpPr/>
          <p:nvPr/>
        </p:nvSpPr>
        <p:spPr>
          <a:xfrm>
            <a:off x="457200" y="1371600"/>
            <a:ext cx="3291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1f2a44"/>
                </a:solidFill>
                <a:latin typeface="Cambria"/>
                <a:ea typeface="Cambria"/>
              </a:rPr>
              <a:t>+12%</a:t>
            </a:r>
            <a:endParaRPr b="0" lang="en-AE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 2"/>
          <p:cNvSpPr/>
          <p:nvPr/>
        </p:nvSpPr>
        <p:spPr>
          <a:xfrm>
            <a:off x="457200" y="2103120"/>
            <a:ext cx="3291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5a6275"/>
                </a:solidFill>
                <a:latin typeface="Calibri"/>
                <a:ea typeface="Calibri"/>
              </a:rPr>
              <a:t>Avg invoice: SAR 6,241 vs 5,583</a:t>
            </a:r>
            <a:endParaRPr b="0" lang="en-AE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 3"/>
          <p:cNvSpPr/>
          <p:nvPr/>
        </p:nvSpPr>
        <p:spPr>
          <a:xfrm>
            <a:off x="457200" y="2468880"/>
            <a:ext cx="3291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1f2a44"/>
                </a:solidFill>
                <a:latin typeface="Cambria"/>
                <a:ea typeface="Cambria"/>
              </a:rPr>
              <a:t>SAR 37.8M</a:t>
            </a:r>
            <a:endParaRPr b="0" lang="en-AE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 4"/>
          <p:cNvSpPr/>
          <p:nvPr/>
        </p:nvSpPr>
        <p:spPr>
          <a:xfrm>
            <a:off x="457200" y="3200400"/>
            <a:ext cx="3291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5a6275"/>
                </a:solidFill>
                <a:latin typeface="Calibri"/>
                <a:ea typeface="Calibri"/>
              </a:rPr>
              <a:t>Total buy-back payout</a:t>
            </a:r>
            <a:endParaRPr b="0" lang="en-AE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Text 5"/>
          <p:cNvSpPr/>
          <p:nvPr/>
        </p:nvSpPr>
        <p:spPr>
          <a:xfrm>
            <a:off x="457200" y="3611880"/>
            <a:ext cx="32914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22222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222222"/>
                </a:solidFill>
                <a:latin typeface="Calibri"/>
                <a:ea typeface="Calibri"/>
              </a:rPr>
              <a:t>Branches 02 and 05: 37% of payout</a:t>
            </a:r>
            <a:endParaRPr b="0" lang="en-AE" sz="1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22222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222222"/>
                </a:solidFill>
                <a:latin typeface="Calibri"/>
                <a:ea typeface="Calibri"/>
              </a:rPr>
              <a:t>Branch 13 pays out only 4% of its revenue; Branch 02 about 20%</a:t>
            </a:r>
            <a:endParaRPr b="0" lang="en-AE" sz="1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56" name="Chart 0"/>
          <p:cNvGraphicFramePr/>
          <p:nvPr/>
        </p:nvGraphicFramePr>
        <p:xfrm>
          <a:off x="3931920" y="1280160"/>
          <a:ext cx="4845960" cy="3382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7" name="PlaceHolder 1"/>
          <p:cNvSpPr>
            <a:spLocks noGrp="1"/>
          </p:cNvSpPr>
          <p:nvPr>
            <p:ph type="sldNum" idx="10"/>
          </p:nvPr>
        </p:nvSpPr>
        <p:spPr>
          <a:xfrm>
            <a:off x="8412480" y="475488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000" spc="-1" strike="noStrike">
                <a:solidFill>
                  <a:srgbClr val="5a6275"/>
                </a:solidFill>
                <a:latin typeface="Calibri"/>
                <a:ea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5C5907DD-A5DF-4532-ADCE-CEB2AB5169FD}" type="slidenum">
              <a:rPr b="0" lang="en-US" sz="1000" spc="-1" strike="noStrike">
                <a:solidFill>
                  <a:srgbClr val="5a6275"/>
                </a:solidFill>
                <a:latin typeface="Calibri"/>
                <a:ea typeface="Calibri"/>
              </a:rPr>
              <a:t>7</a:t>
            </a:fld>
            <a:endParaRPr b="0" lang="en-AE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 0"/>
          <p:cNvSpPr/>
          <p:nvPr/>
        </p:nvSpPr>
        <p:spPr>
          <a:xfrm>
            <a:off x="457200" y="274320"/>
            <a:ext cx="8229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1f2a44"/>
                </a:solidFill>
                <a:latin typeface="Cambria"/>
                <a:ea typeface="Cambria"/>
              </a:rPr>
              <a:t>Ten salespeople produce a third of revenue, and two IDs are really whole branches</a:t>
            </a:r>
            <a:endParaRPr b="0" lang="en-AE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 1"/>
          <p:cNvSpPr/>
          <p:nvPr/>
        </p:nvSpPr>
        <p:spPr>
          <a:xfrm>
            <a:off x="457200" y="1371600"/>
            <a:ext cx="3200040" cy="329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22222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222222"/>
                </a:solidFill>
                <a:latin typeface="Calibri"/>
                <a:ea typeface="Calibri"/>
              </a:rPr>
              <a:t>Top 10 of 125 salespeople: about SAR 114M</a:t>
            </a:r>
            <a:endParaRPr b="0" lang="en-AE" sz="1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22222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222222"/>
                </a:solidFill>
                <a:latin typeface="Calibri"/>
                <a:ea typeface="Calibri"/>
              </a:rPr>
              <a:t>SP 105 = Branch 05 and SP 115 = Branch 18 exactly (shared logins)</a:t>
            </a:r>
            <a:endParaRPr b="0" lang="en-AE" sz="1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22222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222222"/>
                </a:solidFill>
                <a:latin typeface="Calibri"/>
                <a:ea typeface="Calibri"/>
              </a:rPr>
              <a:t>SP 102: SAR 19,400 per invoice, versus about 5,300 for SP 105</a:t>
            </a:r>
            <a:endParaRPr b="0" lang="en-AE" sz="1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22222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222222"/>
                </a:solidFill>
                <a:latin typeface="Calibri"/>
                <a:ea typeface="Calibri"/>
              </a:rPr>
              <a:t>Discount is almost absent (58 of 90,800 lines)</a:t>
            </a:r>
            <a:endParaRPr b="0" lang="en-AE" sz="1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60" name="Chart 0"/>
          <p:cNvGraphicFramePr/>
          <p:nvPr/>
        </p:nvGraphicFramePr>
        <p:xfrm>
          <a:off x="3840480" y="1280160"/>
          <a:ext cx="4937400" cy="3382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1" name="PlaceHolder 1"/>
          <p:cNvSpPr>
            <a:spLocks noGrp="1"/>
          </p:cNvSpPr>
          <p:nvPr>
            <p:ph type="sldNum" idx="11"/>
          </p:nvPr>
        </p:nvSpPr>
        <p:spPr>
          <a:xfrm>
            <a:off x="8412480" y="475488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000" spc="-1" strike="noStrike">
                <a:solidFill>
                  <a:srgbClr val="5a6275"/>
                </a:solidFill>
                <a:latin typeface="Calibri"/>
                <a:ea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35313E5F-A19C-4713-A016-5307F2E7B3A0}" type="slidenum">
              <a:rPr b="0" lang="en-US" sz="1000" spc="-1" strike="noStrike">
                <a:solidFill>
                  <a:srgbClr val="5a6275"/>
                </a:solidFill>
                <a:latin typeface="Calibri"/>
                <a:ea typeface="Calibri"/>
              </a:rPr>
              <a:t>8</a:t>
            </a:fld>
            <a:endParaRPr b="0" lang="en-AE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 0"/>
          <p:cNvSpPr/>
          <p:nvPr/>
        </p:nvSpPr>
        <p:spPr>
          <a:xfrm>
            <a:off x="457200" y="274320"/>
            <a:ext cx="8229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1f2a44"/>
                </a:solidFill>
                <a:latin typeface="Cambria"/>
                <a:ea typeface="Cambria"/>
              </a:rPr>
              <a:t>Friday and January are the peaks: Friday carries 25% of all invoices</a:t>
            </a:r>
            <a:endParaRPr b="0" lang="en-AE" sz="26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63" name="Chart 0"/>
          <p:cNvGraphicFramePr/>
          <p:nvPr/>
        </p:nvGraphicFramePr>
        <p:xfrm>
          <a:off x="365760" y="1280160"/>
          <a:ext cx="4754520" cy="2377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64" name="Chart 1"/>
          <p:cNvGraphicFramePr/>
          <p:nvPr/>
        </p:nvGraphicFramePr>
        <p:xfrm>
          <a:off x="5212080" y="1280160"/>
          <a:ext cx="3565800" cy="2377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5" name="Text 1"/>
          <p:cNvSpPr/>
          <p:nvPr/>
        </p:nvSpPr>
        <p:spPr>
          <a:xfrm>
            <a:off x="457200" y="3657600"/>
            <a:ext cx="4571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a6275"/>
                </a:solidFill>
                <a:latin typeface="Calibri"/>
                <a:ea typeface="Calibri"/>
              </a:rPr>
              <a:t>Monthly revenue, SAR million</a:t>
            </a:r>
            <a:endParaRPr b="0" lang="en-A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 2"/>
          <p:cNvSpPr/>
          <p:nvPr/>
        </p:nvSpPr>
        <p:spPr>
          <a:xfrm>
            <a:off x="5303520" y="3657600"/>
            <a:ext cx="3474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a6275"/>
                </a:solidFill>
                <a:latin typeface="Calibri"/>
                <a:ea typeface="Calibri"/>
              </a:rPr>
              <a:t>Revenue by weekday, SAR million</a:t>
            </a:r>
            <a:endParaRPr b="0" lang="en-A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 3"/>
          <p:cNvSpPr/>
          <p:nvPr/>
        </p:nvSpPr>
        <p:spPr>
          <a:xfrm>
            <a:off x="457200" y="402336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222222"/>
                </a:solidFill>
                <a:latin typeface="Calibri"/>
                <a:ea typeface="Calibri"/>
              </a:rPr>
              <a:t>Jan 2026 reached SAR 45.3M; Feb 2026 is a partial month. Thu–Sat bring in 50% of revenue, and Friday has the lowest average invoice (about SAR 4,750).</a:t>
            </a:r>
            <a:endParaRPr b="0" lang="en-AE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1"/>
          <p:cNvSpPr>
            <a:spLocks noGrp="1"/>
          </p:cNvSpPr>
          <p:nvPr>
            <p:ph type="sldNum" idx="12"/>
          </p:nvPr>
        </p:nvSpPr>
        <p:spPr>
          <a:xfrm>
            <a:off x="8412480" y="475488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000" spc="-1" strike="noStrike">
                <a:solidFill>
                  <a:srgbClr val="5a6275"/>
                </a:solidFill>
                <a:latin typeface="Calibri"/>
                <a:ea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275625C6-C3A8-4DE4-B164-02A766575F77}" type="slidenum">
              <a:rPr b="0" lang="en-US" sz="1000" spc="-1" strike="noStrike">
                <a:solidFill>
                  <a:srgbClr val="5a6275"/>
                </a:solidFill>
                <a:latin typeface="Calibri"/>
                <a:ea typeface="Calibri"/>
              </a:rPr>
              <a:t>9</a:t>
            </a:fld>
            <a:endParaRPr b="0" lang="en-AE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 0"/>
          <p:cNvSpPr/>
          <p:nvPr/>
        </p:nvSpPr>
        <p:spPr>
          <a:xfrm>
            <a:off x="457200" y="274320"/>
            <a:ext cx="8229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1f2a44"/>
                </a:solidFill>
                <a:latin typeface="Cambria"/>
                <a:ea typeface="Cambria"/>
              </a:rPr>
              <a:t>22K and 24K gold make up 90% of sales, and five item types make up 75%</a:t>
            </a:r>
            <a:endParaRPr b="0" lang="en-AE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 1"/>
          <p:cNvSpPr/>
          <p:nvPr/>
        </p:nvSpPr>
        <p:spPr>
          <a:xfrm>
            <a:off x="457200" y="1371600"/>
            <a:ext cx="320004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22222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222222"/>
                </a:solidFill>
                <a:latin typeface="Calibri"/>
                <a:ea typeface="Calibri"/>
              </a:rPr>
              <a:t>22K: 60.1%, 24K: 29.5%, silver: 5.8%</a:t>
            </a:r>
            <a:endParaRPr b="0" lang="en-AE" sz="1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22222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222222"/>
                </a:solidFill>
                <a:latin typeface="Calibri"/>
                <a:ea typeface="Calibri"/>
              </a:rPr>
              <a:t>Silver is 71% of weight but under 6% of revenue</a:t>
            </a:r>
            <a:endParaRPr b="0" lang="en-AE" sz="1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22222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222222"/>
                </a:solidFill>
                <a:latin typeface="Calibri"/>
                <a:ea typeface="Calibri"/>
              </a:rPr>
              <a:t>Making charge per gram: ring 89, earring 75, necklace 55, plain gold 11</a:t>
            </a:r>
            <a:endParaRPr b="0" lang="en-AE" sz="1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71" name="Chart 0"/>
          <p:cNvGraphicFramePr/>
          <p:nvPr/>
        </p:nvGraphicFramePr>
        <p:xfrm>
          <a:off x="3840480" y="1280160"/>
          <a:ext cx="4937400" cy="3382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2" name="PlaceHolder 1"/>
          <p:cNvSpPr>
            <a:spLocks noGrp="1"/>
          </p:cNvSpPr>
          <p:nvPr>
            <p:ph type="sldNum" idx="13"/>
          </p:nvPr>
        </p:nvSpPr>
        <p:spPr>
          <a:xfrm>
            <a:off x="8412480" y="475488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000" spc="-1" strike="noStrike">
                <a:solidFill>
                  <a:srgbClr val="5a6275"/>
                </a:solidFill>
                <a:latin typeface="Calibri"/>
                <a:ea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11F391E8-E2BE-4F5B-8CFA-AA9B5998CBCB}" type="slidenum">
              <a:rPr b="0" lang="en-US" sz="1000" spc="-1" strike="noStrike">
                <a:solidFill>
                  <a:srgbClr val="5a6275"/>
                </a:solidFill>
                <a:latin typeface="Calibri"/>
                <a:ea typeface="Calibri"/>
              </a:rPr>
              <a:t>10</a:t>
            </a:fld>
            <a:endParaRPr b="0" lang="en-AE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 0"/>
          <p:cNvSpPr/>
          <p:nvPr/>
        </p:nvSpPr>
        <p:spPr>
          <a:xfrm>
            <a:off x="457200" y="274320"/>
            <a:ext cx="8229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1f2a44"/>
                </a:solidFill>
                <a:latin typeface="Cambria"/>
                <a:ea typeface="Cambria"/>
              </a:rPr>
              <a:t>Six actions to grow retention, buy-back and day-to-day performance</a:t>
            </a:r>
            <a:endParaRPr b="0" lang="en-AE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Shape 1"/>
          <p:cNvSpPr/>
          <p:nvPr/>
        </p:nvSpPr>
        <p:spPr>
          <a:xfrm>
            <a:off x="457200" y="1371600"/>
            <a:ext cx="4023000" cy="959760"/>
          </a:xfrm>
          <a:prstGeom prst="roundRect">
            <a:avLst>
              <a:gd name="adj" fmla="val 7619"/>
            </a:avLst>
          </a:prstGeom>
          <a:solidFill>
            <a:srgbClr val="eef0f5"/>
          </a:solidFill>
          <a:ln w="12700">
            <a:solidFill>
              <a:srgbClr val="eef0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A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Shape 2"/>
          <p:cNvSpPr/>
          <p:nvPr/>
        </p:nvSpPr>
        <p:spPr>
          <a:xfrm>
            <a:off x="594360" y="1627560"/>
            <a:ext cx="456840" cy="45684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A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Text 3"/>
          <p:cNvSpPr/>
          <p:nvPr/>
        </p:nvSpPr>
        <p:spPr>
          <a:xfrm>
            <a:off x="594360" y="16275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A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 4"/>
          <p:cNvSpPr/>
          <p:nvPr/>
        </p:nvSpPr>
        <p:spPr>
          <a:xfrm>
            <a:off x="1188720" y="1463040"/>
            <a:ext cx="27428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222222"/>
                </a:solidFill>
                <a:latin typeface="Calibri"/>
                <a:ea typeface="Calibri"/>
              </a:rPr>
              <a:t>Day-30 offer for first-time buyers; relaunch loyalty</a:t>
            </a:r>
            <a:endParaRPr b="0" lang="en-AE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 5"/>
          <p:cNvSpPr/>
          <p:nvPr/>
        </p:nvSpPr>
        <p:spPr>
          <a:xfrm>
            <a:off x="3840480" y="1463040"/>
            <a:ext cx="5482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b8860b"/>
                </a:solidFill>
                <a:latin typeface="Calibri"/>
                <a:ea typeface="Calibri"/>
              </a:rPr>
              <a:t>C-02</a:t>
            </a:r>
            <a:endParaRPr b="0" lang="en-A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Shape 6"/>
          <p:cNvSpPr/>
          <p:nvPr/>
        </p:nvSpPr>
        <p:spPr>
          <a:xfrm>
            <a:off x="4663440" y="1371600"/>
            <a:ext cx="4023000" cy="959760"/>
          </a:xfrm>
          <a:prstGeom prst="roundRect">
            <a:avLst>
              <a:gd name="adj" fmla="val 7619"/>
            </a:avLst>
          </a:prstGeom>
          <a:solidFill>
            <a:srgbClr val="eef0f5"/>
          </a:solidFill>
          <a:ln w="12700">
            <a:solidFill>
              <a:srgbClr val="eef0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A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Shape 7"/>
          <p:cNvSpPr/>
          <p:nvPr/>
        </p:nvSpPr>
        <p:spPr>
          <a:xfrm>
            <a:off x="4800600" y="1627560"/>
            <a:ext cx="456840" cy="45684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A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Text 8"/>
          <p:cNvSpPr/>
          <p:nvPr/>
        </p:nvSpPr>
        <p:spPr>
          <a:xfrm>
            <a:off x="4800600" y="16275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A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 9"/>
          <p:cNvSpPr/>
          <p:nvPr/>
        </p:nvSpPr>
        <p:spPr>
          <a:xfrm>
            <a:off x="5394960" y="1463040"/>
            <a:ext cx="27428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222222"/>
                </a:solidFill>
                <a:latin typeface="Calibri"/>
                <a:ea typeface="Calibri"/>
              </a:rPr>
              <a:t>Pilot Branch 02's buy-back approach in Branches 13 and 19; offer trade-in to one-time buyers</a:t>
            </a:r>
            <a:endParaRPr b="0" lang="en-AE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 10"/>
          <p:cNvSpPr/>
          <p:nvPr/>
        </p:nvSpPr>
        <p:spPr>
          <a:xfrm>
            <a:off x="8046720" y="1463040"/>
            <a:ext cx="5482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b8860b"/>
                </a:solidFill>
                <a:latin typeface="Calibri"/>
                <a:ea typeface="Calibri"/>
              </a:rPr>
              <a:t>C-05</a:t>
            </a:r>
            <a:endParaRPr b="0" lang="en-A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Shape 11"/>
          <p:cNvSpPr/>
          <p:nvPr/>
        </p:nvSpPr>
        <p:spPr>
          <a:xfrm>
            <a:off x="457200" y="2468880"/>
            <a:ext cx="4023000" cy="959760"/>
          </a:xfrm>
          <a:prstGeom prst="roundRect">
            <a:avLst>
              <a:gd name="adj" fmla="val 7619"/>
            </a:avLst>
          </a:prstGeom>
          <a:solidFill>
            <a:srgbClr val="eef0f5"/>
          </a:solidFill>
          <a:ln w="12700">
            <a:solidFill>
              <a:srgbClr val="eef0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A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Shape 12"/>
          <p:cNvSpPr/>
          <p:nvPr/>
        </p:nvSpPr>
        <p:spPr>
          <a:xfrm>
            <a:off x="594360" y="2724840"/>
            <a:ext cx="456840" cy="45684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A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Text 13"/>
          <p:cNvSpPr/>
          <p:nvPr/>
        </p:nvSpPr>
        <p:spPr>
          <a:xfrm>
            <a:off x="594360" y="27248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n-A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 14"/>
          <p:cNvSpPr/>
          <p:nvPr/>
        </p:nvSpPr>
        <p:spPr>
          <a:xfrm>
            <a:off x="1188720" y="2560320"/>
            <a:ext cx="27428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222222"/>
                </a:solidFill>
                <a:latin typeface="Calibri"/>
                <a:ea typeface="Calibri"/>
              </a:rPr>
              <a:t>Individual login for every salesperson</a:t>
            </a:r>
            <a:endParaRPr b="0" lang="en-AE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 15"/>
          <p:cNvSpPr/>
          <p:nvPr/>
        </p:nvSpPr>
        <p:spPr>
          <a:xfrm>
            <a:off x="3840480" y="2560320"/>
            <a:ext cx="5482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b8860b"/>
                </a:solidFill>
                <a:latin typeface="Calibri"/>
                <a:ea typeface="Calibri"/>
              </a:rPr>
              <a:t>C-06</a:t>
            </a:r>
            <a:endParaRPr b="0" lang="en-A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Shape 16"/>
          <p:cNvSpPr/>
          <p:nvPr/>
        </p:nvSpPr>
        <p:spPr>
          <a:xfrm>
            <a:off x="4663440" y="2468880"/>
            <a:ext cx="4023000" cy="959760"/>
          </a:xfrm>
          <a:prstGeom prst="roundRect">
            <a:avLst>
              <a:gd name="adj" fmla="val 7619"/>
            </a:avLst>
          </a:prstGeom>
          <a:solidFill>
            <a:srgbClr val="eef0f5"/>
          </a:solidFill>
          <a:ln w="12700">
            <a:solidFill>
              <a:srgbClr val="eef0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A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Shape 17"/>
          <p:cNvSpPr/>
          <p:nvPr/>
        </p:nvSpPr>
        <p:spPr>
          <a:xfrm>
            <a:off x="4800600" y="2724840"/>
            <a:ext cx="456840" cy="45684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A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Text 18"/>
          <p:cNvSpPr/>
          <p:nvPr/>
        </p:nvSpPr>
        <p:spPr>
          <a:xfrm>
            <a:off x="4800600" y="27248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endParaRPr b="0" lang="en-A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 19"/>
          <p:cNvSpPr/>
          <p:nvPr/>
        </p:nvSpPr>
        <p:spPr>
          <a:xfrm>
            <a:off x="5394960" y="2560320"/>
            <a:ext cx="27428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222222"/>
                </a:solidFill>
                <a:latin typeface="Calibri"/>
                <a:ea typeface="Calibri"/>
              </a:rPr>
              <a:t>Staff and promote for Thu–Sat; plan for Oct and Jan</a:t>
            </a:r>
            <a:endParaRPr b="0" lang="en-AE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 20"/>
          <p:cNvSpPr/>
          <p:nvPr/>
        </p:nvSpPr>
        <p:spPr>
          <a:xfrm>
            <a:off x="8046720" y="2560320"/>
            <a:ext cx="5482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b8860b"/>
                </a:solidFill>
                <a:latin typeface="Calibri"/>
                <a:ea typeface="Calibri"/>
              </a:rPr>
              <a:t>C-07</a:t>
            </a:r>
            <a:endParaRPr b="0" lang="en-A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Shape 21"/>
          <p:cNvSpPr/>
          <p:nvPr/>
        </p:nvSpPr>
        <p:spPr>
          <a:xfrm>
            <a:off x="457200" y="3566160"/>
            <a:ext cx="4023000" cy="959760"/>
          </a:xfrm>
          <a:prstGeom prst="roundRect">
            <a:avLst>
              <a:gd name="adj" fmla="val 7619"/>
            </a:avLst>
          </a:prstGeom>
          <a:solidFill>
            <a:srgbClr val="eef0f5"/>
          </a:solidFill>
          <a:ln w="12700">
            <a:solidFill>
              <a:srgbClr val="eef0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A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Shape 22"/>
          <p:cNvSpPr/>
          <p:nvPr/>
        </p:nvSpPr>
        <p:spPr>
          <a:xfrm>
            <a:off x="594360" y="3822120"/>
            <a:ext cx="456840" cy="45684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A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Text 23"/>
          <p:cNvSpPr/>
          <p:nvPr/>
        </p:nvSpPr>
        <p:spPr>
          <a:xfrm>
            <a:off x="594360" y="38221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5</a:t>
            </a:r>
            <a:endParaRPr b="0" lang="en-A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 24"/>
          <p:cNvSpPr/>
          <p:nvPr/>
        </p:nvSpPr>
        <p:spPr>
          <a:xfrm>
            <a:off x="1188720" y="3657600"/>
            <a:ext cx="27428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222222"/>
                </a:solidFill>
                <a:latin typeface="Calibri"/>
                <a:ea typeface="Calibri"/>
              </a:rPr>
              <a:t>Record return reasons; review Branches 08 and 09</a:t>
            </a:r>
            <a:endParaRPr b="0" lang="en-AE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 25"/>
          <p:cNvSpPr/>
          <p:nvPr/>
        </p:nvSpPr>
        <p:spPr>
          <a:xfrm>
            <a:off x="3840480" y="3657600"/>
            <a:ext cx="5482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b8860b"/>
                </a:solidFill>
                <a:latin typeface="Calibri"/>
                <a:ea typeface="Calibri"/>
              </a:rPr>
              <a:t>C-03</a:t>
            </a:r>
            <a:endParaRPr b="0" lang="en-A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Shape 26"/>
          <p:cNvSpPr/>
          <p:nvPr/>
        </p:nvSpPr>
        <p:spPr>
          <a:xfrm>
            <a:off x="4663440" y="3566160"/>
            <a:ext cx="4023000" cy="959760"/>
          </a:xfrm>
          <a:prstGeom prst="roundRect">
            <a:avLst>
              <a:gd name="adj" fmla="val 7619"/>
            </a:avLst>
          </a:prstGeom>
          <a:solidFill>
            <a:srgbClr val="eef0f5"/>
          </a:solidFill>
          <a:ln w="12700">
            <a:solidFill>
              <a:srgbClr val="eef0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A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Shape 27"/>
          <p:cNvSpPr/>
          <p:nvPr/>
        </p:nvSpPr>
        <p:spPr>
          <a:xfrm>
            <a:off x="4800600" y="3822120"/>
            <a:ext cx="456840" cy="45684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A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Text 28"/>
          <p:cNvSpPr/>
          <p:nvPr/>
        </p:nvSpPr>
        <p:spPr>
          <a:xfrm>
            <a:off x="4800600" y="38221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6</a:t>
            </a:r>
            <a:endParaRPr b="0" lang="en-A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 29"/>
          <p:cNvSpPr/>
          <p:nvPr/>
        </p:nvSpPr>
        <p:spPr>
          <a:xfrm>
            <a:off x="5394960" y="3657600"/>
            <a:ext cx="27428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222222"/>
                </a:solidFill>
                <a:latin typeface="Calibri"/>
                <a:ea typeface="Calibri"/>
              </a:rPr>
              <a:t>Grow rings, earrings and necklaces; trim the long tail</a:t>
            </a:r>
            <a:endParaRPr b="0" lang="en-AE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 30"/>
          <p:cNvSpPr/>
          <p:nvPr/>
        </p:nvSpPr>
        <p:spPr>
          <a:xfrm>
            <a:off x="8046720" y="3657600"/>
            <a:ext cx="5482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b8860b"/>
                </a:solidFill>
                <a:latin typeface="Calibri"/>
                <a:ea typeface="Calibri"/>
              </a:rPr>
              <a:t>C-08</a:t>
            </a:r>
            <a:endParaRPr b="0" lang="en-A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laceHolder 1"/>
          <p:cNvSpPr>
            <a:spLocks noGrp="1"/>
          </p:cNvSpPr>
          <p:nvPr>
            <p:ph type="sldNum" idx="14"/>
          </p:nvPr>
        </p:nvSpPr>
        <p:spPr>
          <a:xfrm>
            <a:off x="8412480" y="475488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000" spc="-1" strike="noStrike">
                <a:solidFill>
                  <a:srgbClr val="5a6275"/>
                </a:solidFill>
                <a:latin typeface="Calibri"/>
                <a:ea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B33C2557-1E2A-4ADD-9A90-0FCEDA7C9475}" type="slidenum">
              <a:rPr b="0" lang="en-US" sz="1000" spc="-1" strike="noStrike">
                <a:solidFill>
                  <a:srgbClr val="5a6275"/>
                </a:solidFill>
                <a:latin typeface="Calibri"/>
                <a:ea typeface="Calibri"/>
              </a:rPr>
              <a:t>11</a:t>
            </a:fld>
            <a:endParaRPr b="0" lang="en-AE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 0"/>
          <p:cNvSpPr/>
          <p:nvPr/>
        </p:nvSpPr>
        <p:spPr>
          <a:xfrm>
            <a:off x="640080" y="457200"/>
            <a:ext cx="7863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ambria"/>
                <a:ea typeface="Cambria"/>
              </a:rPr>
              <a:t>What to keep in mind</a:t>
            </a:r>
            <a:endParaRPr b="0" lang="en-AE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Text 1"/>
          <p:cNvSpPr/>
          <p:nvPr/>
        </p:nvSpPr>
        <p:spPr>
          <a:xfrm>
            <a:off x="640080" y="1371600"/>
            <a:ext cx="786348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dde1ea"/>
              </a:buClr>
              <a:buFont typeface="Symbol" charset="2"/>
              <a:buChar char=""/>
            </a:pPr>
            <a:r>
              <a:rPr b="0" lang="en-US" sz="1600" spc="-1" strike="noStrike">
                <a:solidFill>
                  <a:srgbClr val="dde1ea"/>
                </a:solidFill>
                <a:latin typeface="Calibri"/>
                <a:ea typeface="Calibri"/>
              </a:rPr>
              <a:t>14 months of data; Feb 2026 is incomplete, so year-over-year works only for Jan and Feb</a:t>
            </a:r>
            <a:endParaRPr b="0" lang="en-AE" sz="16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dde1ea"/>
              </a:buClr>
              <a:buFont typeface="Symbol" charset="2"/>
              <a:buChar char=""/>
            </a:pPr>
            <a:r>
              <a:rPr b="0" lang="en-US" sz="1600" spc="-1" strike="noStrike">
                <a:solidFill>
                  <a:srgbClr val="dde1ea"/>
                </a:solidFill>
                <a:latin typeface="Calibri"/>
                <a:ea typeface="Calibri"/>
              </a:rPr>
              <a:t>Five branches have partial history and two have no sales</a:t>
            </a:r>
            <a:endParaRPr b="0" lang="en-AE" sz="16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dde1ea"/>
              </a:buClr>
              <a:buFont typeface="Symbol" charset="2"/>
              <a:buChar char=""/>
            </a:pPr>
            <a:r>
              <a:rPr b="0" lang="en-US" sz="1600" spc="-1" strike="noStrike">
                <a:solidFill>
                  <a:srgbClr val="dde1ea"/>
                </a:solidFill>
                <a:latin typeface="Calibri"/>
                <a:ea typeface="Calibri"/>
              </a:rPr>
              <a:t>Some IDs are shared, so the VIP segment and some repeat rates include generic records</a:t>
            </a:r>
            <a:endParaRPr b="0" lang="en-AE" sz="16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dde1ea"/>
              </a:buClr>
              <a:buFont typeface="Symbol" charset="2"/>
              <a:buChar char=""/>
            </a:pPr>
            <a:r>
              <a:rPr b="0" lang="en-US" sz="1600" spc="-1" strike="noStrike">
                <a:solidFill>
                  <a:srgbClr val="dde1ea"/>
                </a:solidFill>
                <a:latin typeface="Calibri"/>
                <a:ea typeface="Calibri"/>
              </a:rPr>
              <a:t>Findings show association, not cause</a:t>
            </a:r>
            <a:endParaRPr b="0" lang="en-AE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Text 2"/>
          <p:cNvSpPr/>
          <p:nvPr/>
        </p:nvSpPr>
        <p:spPr>
          <a:xfrm>
            <a:off x="640080" y="3931920"/>
            <a:ext cx="78634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b8860b"/>
                </a:solidFill>
                <a:latin typeface="Calibri"/>
                <a:ea typeface="Calibri"/>
              </a:rPr>
              <a:t>Dashboard, SQL queries, Excel workbooks and data dictionary are in the project repository.</a:t>
            </a:r>
            <a:endParaRPr b="0" lang="en-AE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LibreOffice/24.2.0.3$Windows_X86_64 LibreOffice_project/da48488a73ddd66ea24cf16bbc4f7b9c08e9bea1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2026-10-17T19:14:05Z</dcterms:created>
  <dc:creator>GoldVista Capstone</dc:creator>
  <dc:description/>
  <dc:language>en-AE</dc:language>
  <cp:lastModifiedBy/>
  <dcterms:modified xsi:type="dcterms:W3CDTF">2026-10-17T23:32:03Z</dcterms:modified>
  <cp:revision>2</cp:revision>
  <dc:subject>PptxGenJS Presentation</dc:subject>
  <dc:title>GoldVista Retail Analytics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12</vt:i4>
  </property>
  <property fmtid="{D5CDD505-2E9C-101B-9397-08002B2CF9AE}" pid="3" name="PresentationFormat">
    <vt:lpwstr>On-screen Show (16:9)</vt:lpwstr>
  </property>
  <property fmtid="{D5CDD505-2E9C-101B-9397-08002B2CF9AE}" pid="4" name="Slides">
    <vt:i4>12</vt:i4>
  </property>
</Properties>
</file>